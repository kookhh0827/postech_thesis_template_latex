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783080"/>
            <a:ext cx="4023360" cy="4206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0116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42316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83463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61188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6118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393192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70916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47091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0292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4617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Markov by construction;  i.i.d. inputs ⇒ time-homogeneous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7432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in Both Distribution and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4846320"/>
          <a:ext cx="6583680" cy="141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</a:tblGrid>
              <a:tr h="292608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+ MP-Init</a:t>
                      </a:r>
                    </a:p>
                  </a:txBody>
                  <a:tcPr marL="137160" marR="137160">
                    <a:solidFill>
                      <a:srgbClr val="E5F5F0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T=2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72.35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74.01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tdBN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75.55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76.09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TEBN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75.96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76.45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CIFAR-100  ·  T=4  ·  TAB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76.25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77.24</a:t>
                      </a:r>
                    </a:p>
                  </a:txBody>
                  <a:tcPr marL="137160" marR="137160">
                    <a:solidFill>
                      <a:srgbClr val="F8F7F2"/>
                    </a:solidFill>
                  </a:tcPr>
                </a:tc>
              </a:tr>
              <a:tr h="224028">
                <a:tc>
                  <a:txBody>
                    <a:bodyPr anchor="ctr"/>
                    <a:lstStyle/>
                    <a:p>
                      <a:pPr algn="l">
                        <a:defRPr sz="11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DVS-CIFAR10  ·  T=10  ·  tdBN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0">
                          <a:solidFill>
                            <a:srgbClr val="7A7A7A"/>
                          </a:solidFill>
                          <a:latin typeface="Calibri"/>
                        </a:defRPr>
                      </a:pPr>
                      <a:r>
                        <a:t>76.60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77.37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0" y="484632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4983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553212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more stable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0292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Gradient: replace H'(x) with smooth f'(x).  Choice of x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4436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4754880" cy="137160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5312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060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880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0040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744" y="1783080"/>
            <a:ext cx="3196206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589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760720"/>
            <a:ext cx="2157984" cy="68580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760720"/>
            <a:ext cx="2157984" cy="68580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760720"/>
            <a:ext cx="2157984" cy="68580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852159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17220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V_thr^l  ·  W_{l→l+1}    (one-time rescaling per layer)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0.0145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90.20%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1.22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NaN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0.0153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21.45%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0.87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99632" y="4087368"/>
          <a:ext cx="5532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71600"/>
                <a:gridCol w="1417320"/>
                <a:gridCol w="141732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AbsStr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RatioAG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GradCV</a:t>
                      </a:r>
                    </a:p>
                  </a:txBody>
                  <a:tcPr marL="109728" marR="109728">
                    <a:solidFill>
                      <a:srgbClr val="E5F5F0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AS-SG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RS-SG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0.0021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0.10%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E56945"/>
                          </a:solidFill>
                          <a:latin typeface="Consolas"/>
                        </a:defRPr>
                      </a:pPr>
                      <a:r>
                        <a:t>2.25</a:t>
                      </a:r>
                    </a:p>
                  </a:txBody>
                  <a:tcPr marL="109728" marR="109728">
                    <a:solidFill>
                      <a:srgbClr val="F8F7F2"/>
                    </a:solidFill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defRPr b="1" sz="130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TrSG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0.0323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6.90%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b="1" sz="1300">
                          <a:solidFill>
                            <a:srgbClr val="1D7E7E"/>
                          </a:solidFill>
                          <a:latin typeface="Consolas"/>
                        </a:defRPr>
                      </a:pPr>
                      <a:r>
                        <a:t>0.73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RMP-Loss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gains stack additively (largest combined effect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41732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under matched configuration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→ orders of magnitude better than</a:t>
            </a:r>
            <a:br/>
            <a:r>
              <a:t>spike-rate-multiplying baselines (cf. Pareto frontier on slide 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840480"/>
            <a:ext cx="5486400" cy="150876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3434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57784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23559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BACKUP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000" b="1" i="0">
                <a:solidFill>
                  <a:srgbClr val="FFFFFF"/>
                </a:solidFill>
                <a:latin typeface="Cambria"/>
              </a:defRPr>
            </a:pPr>
            <a:r>
              <a:t>Appendix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70332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 i="1">
                <a:solidFill>
                  <a:srgbClr val="E0B85F"/>
                </a:solidFill>
                <a:latin typeface="Cambria"/>
              </a:defRPr>
            </a:pPr>
            <a:r>
              <a:t>Q&amp;A reference: hardware, datasets, 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Can SNNs run on real chips?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Where SNN efficiency comes 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Energy: SNN chip vs DNN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6692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What is an event-based dataset?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57200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From DVS events to SNN 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37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9377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How were SNNs trained before?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530352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Prior work on TCS &amp; threshold learning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Can SNNs Actually Run on Chips?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Production-grade neuromorphic silicon already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Yes — and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3749039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0" i="0">
                <a:solidFill>
                  <a:srgbClr val="1A1A1A"/>
                </a:solidFill>
                <a:latin typeface="Calibri"/>
              </a:defRPr>
            </a:pPr>
            <a:r>
              <a:t>Several research and commercial chips natively run spiking models. Our methods (MP-Init, TrSG) are training-time techniques that produce the same LIF model these chips already accept — so the trained network ports directly without architectural changes.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20640"/>
            <a:ext cx="54864" cy="11887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120640"/>
            <a:ext cx="3694176" cy="118872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59"/>
            <a:ext cx="32918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Key takeaway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Hardware is here. The bottleneck is training quality at low 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26280" y="219456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640080"/>
                <a:gridCol w="960120"/>
                <a:gridCol w="1783080"/>
                <a:gridCol w="2148840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Process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Capacity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metric</a:t>
                      </a:r>
                    </a:p>
                  </a:txBody>
                  <a:tcPr marL="91440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IBM TrueNorth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256 M syn.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70 mW · 26 pJ/event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2018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14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130 M syn.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23.6 pJ / op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Intel Loihi 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Intel 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 M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graded spikes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improved · multi-bit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SpiNNaker 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2024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22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152 M syn. / 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ARM-based · digital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Tianjic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28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40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SNN+ANN hybrid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Tsinghua · hybrid arch.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Speck (SynSense)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328 K neur.</a:t>
                      </a:r>
                    </a:p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DVS on-chip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&lt; 10 mW · always-on</a:t>
                      </a:r>
                    </a:p>
                  </a:txBody>
                  <a:tcPr marL="91440" marR="91440" marT="36576" marB="36576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BrainScaleS-2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65 nm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512 analog neur.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1000× biological speed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2628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Refs: Merolla 2014 · Davies 2018 · Mayr 2019 · Pei 2019 · SynSense 2022 · BrainScaleS team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A1 / A7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SNN Efficiency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structural advantages — none requires a new training scheme.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914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1D7E7E"/>
                </a:solidFill>
                <a:latin typeface="Calibri"/>
              </a:defRPr>
            </a:pPr>
            <a:r>
              <a:t>①  Event-driven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No spike → no compute. Inactive neurons skip MAC and memory access entirely.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Typical activity:  5–20 % per timestep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2194560"/>
            <a:ext cx="3703320" cy="914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0B85F"/>
                </a:solidFill>
                <a:latin typeface="Calibri"/>
              </a:defRPr>
            </a:pPr>
            <a:r>
              <a:t>②  Multiplication-free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Spike ∈ {0, 1} → W·spike degenerates to W or 0. Each synapse becomes an Accumulate (AC), not a MAC.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9704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INT8 AC ≈ 8× cheaper than INT8 MAC (45 nm)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47888" y="2194560"/>
            <a:ext cx="3703320" cy="2331720"/>
          </a:xfrm>
          <a:prstGeom prst="rect">
            <a:avLst/>
          </a:prstGeom>
          <a:solidFill>
            <a:srgbClr val="FFFFFF"/>
          </a:solidFill>
          <a:ln w="2286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2194560"/>
            <a:ext cx="3703320" cy="9144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4231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③  Co-located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880360"/>
            <a:ext cx="33375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Neuromorphic cores keep synaptic weights in local SRAM, on-chip mesh routing — no DRAM trip.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5048" y="4023359"/>
            <a:ext cx="3429000" cy="36576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7" y="4078223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0F2540"/>
                </a:solidFill>
                <a:latin typeface="Consolas"/>
              </a:defRPr>
            </a:pPr>
            <a:r>
              <a:t>DRAM 64-bit ≈ 1300 pJ vs SRAM ≈ 5 pJ</a:t>
            </a:r>
          </a:p>
        </p:txBody>
      </p:sp>
      <p:pic>
        <p:nvPicPr>
          <p:cNvPr id="24" name="Picture 23" descr="mac_vs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709160"/>
            <a:ext cx="6766560" cy="1794423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498079" y="4846320"/>
            <a:ext cx="54864" cy="1508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52944" y="4846320"/>
            <a:ext cx="4288536" cy="1508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4892040"/>
            <a:ext cx="3886200" cy="14173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Bottom line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Efficiency is structural — comes from sparsity + binary spikes + co-located memory.</a:t>
            </a:r>
            <a:br/>
            <a:r>
              <a:t>MP-Init / TrSG protect (1) by stabilizing low-T training.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A2 / A7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Energy: SNN Chip vs DNN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Same task, four hardware platforms — what does the gap actually look like?</a:t>
            </a:r>
          </a:p>
        </p:txBody>
      </p:sp>
      <p:pic>
        <p:nvPicPr>
          <p:cNvPr id="6" name="Picture 5" descr="energ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040880" cy="3404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4068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Same Aloha keyword-spotting task on each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1945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How big is the gap?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606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Sparse / event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9077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~50–100×  vs embedded GPU</a:t>
            </a:r>
            <a:br/>
            <a:r>
              <a:t>(keyword spot, gesture, sparse coding)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1188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Static images (CIFAR / ImageNet)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91363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~2–5×  vs GPU at iso-accuracy</a:t>
            </a:r>
            <a:br/>
            <a:r>
              <a:t>(per published SNN/CNN comparisons)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Why so task-dependent?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73659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0" i="0">
                <a:solidFill>
                  <a:srgbClr val="1A1A1A"/>
                </a:solidFill>
                <a:latin typeface="Calibri"/>
              </a:defRPr>
            </a:pPr>
            <a:r>
              <a:t>Energy ∝ T × spike-rate × neurons.</a:t>
            </a:r>
            <a:br/>
            <a:r>
              <a:t>Low-T + high-sparsity → big gap.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35824" y="5532120"/>
            <a:ext cx="4151376" cy="8229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5577840"/>
            <a:ext cx="374903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50" b="1">
                <a:solidFill>
                  <a:srgbClr val="E0B85F"/>
                </a:solidFill>
                <a:latin typeface="Calibri"/>
              </a:defRPr>
            </a:pPr>
            <a:r>
              <a:t>Why this matters for our work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  <a:latin typeface="Calibri"/>
              </a:defRPr>
            </a:pPr>
            <a:r>
              <a:t>MP-Init enables T = 2 SOTA → directly multiplies energy savings.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Sources: Blouw et al. 2019 (keyword-spotting benchmark); Davies et al. 2021 (LASSO 48× vs CPU); Horowitz ISSCC 2014 (per-op energy).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A3 / A7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Is an Event-Based Dataset?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Output of asynchronous DVS cameras — sparse, fast, high dynamic range.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DVS: Dynamic Vision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Each pixel asynchronously emits an event when its log-intensity changes by a threshold.</a:t>
            </a:r>
            <a:br/>
            <a:r>
              <a:t>Output: a stream of (x, y, t, polarity) tuples.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μs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5648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0B85F"/>
                </a:solidFill>
                <a:latin typeface="Calibri"/>
              </a:defRPr>
            </a:pPr>
            <a:r>
              <a:t>&gt;120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dynamic range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54096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Sparse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only changes emit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977639"/>
            <a:ext cx="1188720" cy="86868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40690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No blur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50" b="0" i="0">
                <a:solidFill>
                  <a:srgbClr val="7A7A7A"/>
                </a:solidFill>
                <a:latin typeface="Calibri"/>
              </a:defRPr>
            </a:pPr>
            <a:r>
              <a:t>no exposure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54864" cy="10058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166360"/>
            <a:ext cx="5294376" cy="10058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4892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In this thesis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DVS-CIFAR10  (event-based image classification, T = 10).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35040" y="219456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06040"/>
                <a:gridCol w="1143000"/>
              </a:tblGrid>
              <a:tr h="411480"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Size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DVS-CIFAR10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CIFAR-10 on monitor + saccading DVS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N-MNIST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MNIST shown to event camera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70 K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N-Caltech101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Caltech101 in event form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9.1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DVS-Gesture (IBM)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 hand gestures, 29 subjects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1.3 K clips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SHD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Spiking Heidelberg Digits (audio events)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Gen1 / 1Mpx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Prophesee automotive (object detect.)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39 h / 14 h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02920">
                <a:tc>
                  <a:txBody>
                    <a:bodyPr anchor="ctr"/>
                    <a:lstStyle/>
                    <a:p>
                      <a:pPr algn="l">
                        <a:defRPr b="1" sz="1050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ASL-DVS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American Sign Language (event)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defRPr sz="1000">
                          <a:solidFill>
                            <a:srgbClr val="1A1A1A"/>
                          </a:solidFill>
                          <a:latin typeface="Consolas"/>
                        </a:defRPr>
                      </a:pPr>
                      <a:r>
                        <a:t>100 K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35040" y="6217920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Highlighted: dataset used in this thesis.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A4 / A7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From DVS Events to SNN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Asynchronous events become T frames that the LIF stack consumes.</a:t>
            </a:r>
          </a:p>
        </p:txBody>
      </p:sp>
      <p:pic>
        <p:nvPicPr>
          <p:cNvPr id="6" name="Picture 5" descr="dv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11064240" cy="382207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54864" cy="5943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3" y="5760720"/>
            <a:ext cx="11009376" cy="5943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06440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50" b="1">
                <a:solidFill>
                  <a:srgbClr val="1D7E7E"/>
                </a:solidFill>
                <a:latin typeface="Calibri"/>
              </a:defRPr>
            </a:pPr>
            <a:r>
              <a:t>Why this matters for MP-Init</a:t>
            </a:r>
          </a:p>
          <a:p>
            <a:pPr>
              <a:spcBef>
                <a:spcPts val="600"/>
              </a:spcBef>
              <a:defRPr sz="1050">
                <a:solidFill>
                  <a:srgbClr val="1A1A1A"/>
                </a:solidFill>
                <a:latin typeface="Calibri"/>
              </a:defRPr>
            </a:pPr>
            <a:r>
              <a:t>The first frame after binning has no history → the membrane starts at zero, far from π. That's exactly the gap MP-Init closes.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A5 / 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How Were SNNs Trained Before?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From biological learning rules to modern surrogate-gradient BPTT.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10698480" cy="36576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12648" y="2834640"/>
            <a:ext cx="237744" cy="237744"/>
          </a:xfrm>
          <a:prstGeom prst="ellipse">
            <a:avLst/>
          </a:prstGeom>
          <a:solidFill>
            <a:srgbClr val="E0B85F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onsolas"/>
              </a:defRPr>
            </a:pPr>
            <a:r>
              <a:t>1998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82879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STDP</a:t>
            </a:r>
          </a:p>
        </p:txBody>
      </p:sp>
      <p:sp>
        <p:nvSpPr>
          <p:cNvPr id="10" name="Oval 9"/>
          <p:cNvSpPr/>
          <p:nvPr/>
        </p:nvSpPr>
        <p:spPr>
          <a:xfrm>
            <a:off x="3538728" y="2834640"/>
            <a:ext cx="237744" cy="237744"/>
          </a:xfrm>
          <a:prstGeom prst="ellipse">
            <a:avLst/>
          </a:prstGeom>
          <a:solidFill>
            <a:srgbClr val="E56945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onsolas"/>
              </a:defRPr>
            </a:pPr>
            <a: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ANN→SNN</a:t>
            </a:r>
            <a:br/>
            <a:r>
              <a:t>conversion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7196328" y="2834640"/>
            <a:ext cx="237744" cy="237744"/>
          </a:xfrm>
          <a:prstGeom prst="ellipse">
            <a:avLst/>
          </a:prstGeom>
          <a:solidFill>
            <a:srgbClr val="1D7E7E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onsolas"/>
              </a:defRPr>
            </a:pPr>
            <a: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Surrogate</a:t>
            </a:r>
            <a:br/>
            <a:r>
              <a:t>gradient</a:t>
            </a:r>
          </a:p>
        </p:txBody>
      </p:sp>
      <p:sp>
        <p:nvSpPr>
          <p:cNvPr id="16" name="Oval 15"/>
          <p:cNvSpPr/>
          <p:nvPr/>
        </p:nvSpPr>
        <p:spPr>
          <a:xfrm>
            <a:off x="10853928" y="2834640"/>
            <a:ext cx="237744" cy="237744"/>
          </a:xfrm>
          <a:prstGeom prst="ellipse">
            <a:avLst/>
          </a:prstGeom>
          <a:solidFill>
            <a:srgbClr val="0F2540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onsolas"/>
              </a:defRPr>
            </a:pPr>
            <a: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1546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Direct +</a:t>
            </a:r>
            <a:br/>
            <a:r>
              <a:t>learnable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2606040" cy="54864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Spike-Timing-Dependent Plasticity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Biological Hebbian rule.</a:t>
            </a:r>
            <a:br/>
            <a:r>
              <a:t>Unsupervised, local; works on small nets only.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Bi &amp; Poo 1998</a:t>
            </a:r>
            <a:br/>
            <a:r>
              <a:t>Diehl &amp; Cook 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4160520"/>
            <a:ext cx="2606040" cy="54864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79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Train ANN → convert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Pretrained ReLU CNN → spike rates.</a:t>
            </a:r>
            <a:br/>
            <a:r>
              <a:t>Early methods: T = 100–2000.</a:t>
            </a:r>
            <a:br/>
            <a:r>
              <a:t>Modern (QCFS '23, Hao '23): T ≤ 8.</a:t>
            </a:r>
            <a:br/>
            <a:r>
              <a:t>Still cannot consume native event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79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Cao 2015 · Rueckauer 2017</a:t>
            </a:r>
            <a:br/>
            <a:r>
              <a:t>Bu 2023 (QCFS) · Hao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89320" y="4160520"/>
            <a:ext cx="2606040" cy="54864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Surrogate gradient (STBP / BPTT)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Replace Heaviside backward with a smooth function.</a:t>
            </a:r>
            <a:br/>
            <a:r>
              <a:t>Few timesteps; works on event data; modern dominant.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Bohte 2002 · Wu 2018</a:t>
            </a:r>
            <a:br/>
            <a:r>
              <a:t>Neftci 2019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32520" y="4160520"/>
            <a:ext cx="2606040" cy="1920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732520" y="4160520"/>
            <a:ext cx="2606040" cy="54864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0" y="432511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Learnable LIF 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727448"/>
            <a:ext cx="2331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 V_thr, τ end-to-end → adaptive neurons.</a:t>
            </a:r>
            <a:br/>
            <a:r>
              <a:t>This thesis: stabilize that training pathway.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557784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0" i="1">
                <a:solidFill>
                  <a:srgbClr val="7A7A7A"/>
                </a:solidFill>
                <a:latin typeface="Calibri"/>
              </a:defRPr>
            </a:pPr>
            <a:r>
              <a:t>Fang 2021 · Wang 2022</a:t>
            </a:r>
            <a:br/>
            <a:r>
              <a:t>Rathi 2023 · ours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A6 / A7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66928"/>
            <a:ext cx="54864" cy="201168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56945"/>
                </a:solidFill>
                <a:latin typeface="Calibri"/>
              </a:defRPr>
            </a:pPr>
            <a:r>
              <a:rPr spc="400"/>
              <a:t>APPENDIX ·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Where Prior Work Falls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TCS methods miss the membrane potential; threshold-learning methods don't diagnose the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TCS / Normalization in SNNs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33172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BNTT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BN on synaptic input current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U[t] drift not corrected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tdBN '20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Threshold-dependent BN on activations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Pre-spike BN; U[t]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TEBN '22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Timestep-specific affine on outputs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drift untouched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TAB '24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Temporal-adaptive output normalization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Membrane TCS persists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486400"/>
            <a:ext cx="54864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431536" cy="77724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1D7E7E"/>
                </a:solidFill>
                <a:latin typeface="Calibri"/>
              </a:defRPr>
            </a:pPr>
            <a:r>
              <a:t>Our take (MP-Init)</a:t>
            </a:r>
          </a:p>
          <a:p>
            <a:pPr>
              <a:spcBef>
                <a:spcPts val="600"/>
              </a:spcBef>
              <a:defRPr sz="1000">
                <a:solidFill>
                  <a:srgbClr val="1A1A1A"/>
                </a:solidFill>
                <a:latin typeface="Calibri"/>
              </a:defRPr>
            </a:pPr>
            <a:r>
              <a:t>Fix the cause, not symptom — align M[t] with stationary π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Trainable LIF parameters (V_thr, τ)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2606040"/>
          <a:ext cx="5486399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94560"/>
                <a:gridCol w="1874519"/>
              </a:tblGrid>
              <a:tr h="457200"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What's learned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misses</a:t>
                      </a:r>
                    </a:p>
                  </a:txBody>
                  <a:tcPr marL="109728" marR="91440">
                    <a:solidFill>
                      <a:srgbClr val="0F2540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PLIF '21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Leakage τ only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V_thr fixed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LTMD '22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(heavy clipping)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Hides instability</a:t>
                      </a:r>
                    </a:p>
                  </a:txBody>
                  <a:tcPr marL="109728" marR="91440">
                    <a:solidFill>
                      <a:srgbClr val="F8F7F2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0F2540"/>
                          </a:solidFill>
                          <a:latin typeface="Calibri"/>
                        </a:defRPr>
                      </a:pPr>
                      <a:r>
                        <a:t>DIET-SNN '23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V_thr + τ (gradient clip)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i="1">
                          <a:solidFill>
                            <a:srgbClr val="E56945"/>
                          </a:solidFill>
                          <a:latin typeface="Calibri"/>
                        </a:defRPr>
                      </a:pPr>
                      <a:r>
                        <a:t>Doesn't classify failure</a:t>
                      </a:r>
                    </a:p>
                  </a:txBody>
                  <a:tcPr marL="109728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anchor="ctr"/>
                    <a:lstStyle/>
                    <a:p>
                      <a:pPr algn="l">
                        <a:defRPr sz="10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Ours (TrSG)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95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V_thr + τ, scale-invariant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defRPr sz="1100" b="1">
                          <a:solidFill>
                            <a:srgbClr val="1D7E7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109728" marR="91440">
                    <a:solidFill>
                      <a:srgbClr val="E5F5F0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63640" y="5486400"/>
            <a:ext cx="54864" cy="7772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8503" y="5486400"/>
            <a:ext cx="5431536" cy="7772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5532120"/>
            <a:ext cx="5029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Our take (TrSG)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Diagnose first (4 failure modes), then cancel the 1/V_thr factor by construction.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Appendix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A7 / 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