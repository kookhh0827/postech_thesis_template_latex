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12648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6583680" cy="14173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+ MP-Init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tdBN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44068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75.55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544068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76.09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7842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TEBN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6784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75.96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6784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76.45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1616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76.25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91616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77.24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15391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DVS-CIFAR10  ·  T=10  ·  tdBN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153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76.60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6153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77.37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02920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71500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 (SG)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Spike S = H(x) is non-differentiable.  In backward pass, replace H' with a smooth f'(x).  The choice of x is what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tdBN, TET, PLIF, LTMD,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Meng 2023, DIET-SNN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How the gradient window looks against the membrane-potential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4480560"/>
            <a:ext cx="3566160" cy="1309097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603504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03504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 Once V_thr trains, AS-SG breaks one way, RS-SG the opposite.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2286000"/>
          </a:xfrm>
          <a:prstGeom prst="rect">
            <a:avLst/>
          </a:prstGeom>
          <a:solidFill>
            <a:srgbClr val="F8F7F2"/>
          </a:solidFill>
          <a:ln w="1270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94759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0.0145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90.20%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1.22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1D7E7E"/>
                </a:solidFill>
                <a:latin typeface="Consolas"/>
              </a:defRPr>
            </a:pPr>
            <a:r>
              <a:t>0.0153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1D7E7E"/>
                </a:solidFill>
                <a:latin typeface="Consolas"/>
              </a:defRPr>
            </a:pPr>
            <a:r>
              <a:t>21.45%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1D7E7E"/>
                </a:solidFill>
                <a:latin typeface="Consolas"/>
              </a:defRPr>
            </a:pPr>
            <a:r>
              <a:t>0.87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3703320"/>
            <a:ext cx="5532120" cy="2286000"/>
          </a:xfrm>
          <a:prstGeom prst="rect">
            <a:avLst/>
          </a:prstGeom>
          <a:solidFill>
            <a:srgbClr val="F8F7F2"/>
          </a:solidFill>
          <a:ln w="1270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3794759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45552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88752" y="4206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232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5552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0.0000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45720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0.000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28232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45552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0.0021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7152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0.10%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88752" y="501091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E56945"/>
                </a:solidFill>
                <a:latin typeface="Consolas"/>
              </a:defRPr>
            </a:pPr>
            <a:r>
              <a:t>2.25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28232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45552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1D7E7E"/>
                </a:solidFill>
                <a:latin typeface="Consolas"/>
              </a:defRPr>
            </a:pPr>
            <a:r>
              <a:t>0.0323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17152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1D7E7E"/>
                </a:solidFill>
                <a:latin typeface="Consolas"/>
              </a:defRPr>
            </a:pPr>
            <a:r>
              <a:t>6.90%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88752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0" i="0">
                <a:solidFill>
                  <a:srgbClr val="1D7E7E"/>
                </a:solidFill>
                <a:latin typeface="Consolas"/>
              </a:defRPr>
            </a:pPr>
            <a:r>
              <a:t>0.73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00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21792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