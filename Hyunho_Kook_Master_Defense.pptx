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on slide 13.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48640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7432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246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4" name="Picture 13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4023360"/>
            <a:ext cx="5943600" cy="218182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breaks the opposite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3675636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7451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By V_thr: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alibri"/>
              </a:defRPr>
            </a:pPr>
            <a:r>
              <a:rPr spc="150"/>
              <a:t>V_thr ≪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alibri"/>
              </a:defRPr>
            </a:pPr>
            <a:r>
              <a:rPr spc="150"/>
              <a:t>V_thr ≫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60320"/>
            <a:ext cx="777240" cy="1188720"/>
          </a:xfrm>
          <a:prstGeom prst="rect">
            <a:avLst/>
          </a:prstGeom>
          <a:solidFill>
            <a:srgbClr val="E56945"/>
          </a:solidFill>
          <a:ln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7180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560320"/>
            <a:ext cx="1463040" cy="1188720"/>
          </a:xfrm>
          <a:prstGeom prst="rect">
            <a:avLst/>
          </a:prstGeom>
          <a:solidFill>
            <a:srgbClr val="FAEEE0"/>
          </a:solidFill>
          <a:ln w="101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651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t>✗  Flood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7180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0" i="0">
                <a:solidFill>
                  <a:srgbClr val="1A1A1A"/>
                </a:solidFill>
                <a:latin typeface="Calibri"/>
              </a:defRPr>
            </a:pPr>
            <a:r>
              <a:t>fixed window</a:t>
            </a:r>
            <a:br/>
            <a:r>
              <a:t>covers most of</a:t>
            </a:r>
            <a:br/>
            <a:r>
              <a:t>distribution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560320"/>
            <a:ext cx="1463040" cy="1188720"/>
          </a:xfrm>
          <a:prstGeom prst="rect">
            <a:avLst/>
          </a:prstGeom>
          <a:solidFill>
            <a:srgbClr val="FAEEE0"/>
          </a:solidFill>
          <a:ln w="101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651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t>✗  Starve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97180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0" i="0">
                <a:solidFill>
                  <a:srgbClr val="1A1A1A"/>
                </a:solidFill>
                <a:latin typeface="Calibri"/>
              </a:defRPr>
            </a:pPr>
            <a:r>
              <a:t>fixed window</a:t>
            </a:r>
            <a:br/>
            <a:r>
              <a:t>misses the</a:t>
            </a:r>
            <a:br/>
            <a:r>
              <a:t>distribution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777240" cy="1188720"/>
          </a:xfrm>
          <a:prstGeom prst="rect">
            <a:avLst/>
          </a:prstGeom>
          <a:solidFill>
            <a:srgbClr val="E0B85F"/>
          </a:solidFill>
          <a:ln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25196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3840480"/>
            <a:ext cx="1463040" cy="1188720"/>
          </a:xfrm>
          <a:prstGeom prst="rect">
            <a:avLst/>
          </a:prstGeom>
          <a:solidFill>
            <a:srgbClr val="FAEECB"/>
          </a:solidFill>
          <a:ln w="101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t>✗  Explode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0" i="0">
                <a:solidFill>
                  <a:srgbClr val="1A1A1A"/>
                </a:solidFill>
                <a:latin typeface="Calibri"/>
              </a:defRPr>
            </a:pPr>
            <a:r>
              <a:t>1/V_thr</a:t>
            </a:r>
            <a:br/>
            <a:r>
              <a:t>blows the</a:t>
            </a:r>
            <a:br/>
            <a:r>
              <a:t>magnitude 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840480"/>
            <a:ext cx="1463040" cy="1188720"/>
          </a:xfrm>
          <a:prstGeom prst="rect">
            <a:avLst/>
          </a:prstGeom>
          <a:solidFill>
            <a:srgbClr val="FAEECB"/>
          </a:solidFill>
          <a:ln w="101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t>✗  Vanish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25196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0" i="0">
                <a:solidFill>
                  <a:srgbClr val="1A1A1A"/>
                </a:solidFill>
                <a:latin typeface="Calibri"/>
              </a:defRPr>
            </a:pPr>
            <a:r>
              <a:t>1/V_thr</a:t>
            </a:r>
            <a:br/>
            <a:r>
              <a:t>shrinks the</a:t>
            </a:r>
            <a:br/>
            <a:r>
              <a:t>magnitude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20640"/>
            <a:ext cx="3840480" cy="868680"/>
          </a:xfrm>
          <a:prstGeom prst="rect">
            <a:avLst/>
          </a:prstGeom>
          <a:solidFill>
            <a:srgbClr val="1D7E7E"/>
          </a:solidFill>
          <a:ln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1207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321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✓  window scales with V_thr · magnitude stays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Width = window where gradient flows.  Height = magnitude.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Holds Up — Stress Tests + Real Trajectories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Gradient-stability metrics at extreme thresholds  (CIFAR-100, T=4, ep 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0.1   (low)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AbsStr 0.0145  · 90% active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diverged (NaN)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0.0153  · 21% · CV 0.87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2.0   (high)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0%  active  (zero gradient)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0.10% active · CV 2.25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0.0323  · 7% · CV 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Real trainings actually visit these regions</a:t>
            </a:r>
          </a:p>
        </p:txBody>
      </p:sp>
      <p:pic>
        <p:nvPicPr>
          <p:cNvPr id="12" name="Picture 11" descr="threshold_training_imag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06040"/>
            <a:ext cx="5120640" cy="21945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7200" y="502920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502920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Across CIFAR-100, DVS-CIFAR10, and ImageNet, trainable V_thr drifts well below 1</a:t>
            </a:r>
            <a:br/>
            <a:r>
              <a:t>or above 2 in some layers — exactly the regimes where AS-SG and RS-SG fail.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TCS originates in the membrane potential. A per-layer running mean closes the gap to the stationary distribution. No overhead, standard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Threshold-induced gradient pathology cancelled by a one-line forward-path fix. Window adapts, magnitude is invariant. Inference reverts to binary spikes.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SOTA on CIFAR-10/100, ImageNet, DVS-CIFAR10. Generalizes to Transformer SNNs and event-based detection without modification.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  &amp;  FUTURE 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CBD8E0"/>
                </a:solidFill>
                <a:latin typeface="Calibri"/>
              </a:defRPr>
            </a:pPr>
            <a:r>
              <a:t>Per-layer constant approximates π only at the mean — richer parameterizations are open.</a:t>
            </a:r>
            <a:br/>
            <a:r>
              <a:t>Hardware with fixed neuron parameters needs quantization-aware adaptation.</a:t>
            </a:r>
            <a:br/>
            <a:r>
              <a:t>Beyond LIF: extending the principles to adaptive LIF, Izhikevich, and large foundation-scale SNNs.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