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09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09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E0B85F"/>
                </a:solidFill>
                <a:latin typeface="Calibri"/>
              </a:defRPr>
            </a:pPr>
            <a:r>
              <a:rPr spc="400"/>
              <a:t>MASTER'S THESIS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400" b="1" i="0">
                <a:solidFill>
                  <a:srgbClr val="FFFFFF"/>
                </a:solidFill>
                <a:latin typeface="Cambria"/>
              </a:defRPr>
            </a:pPr>
            <a:r>
              <a:t>Enhancing Stability in Direct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400" b="1" i="0">
                <a:solidFill>
                  <a:srgbClr val="FFFFFF"/>
                </a:solidFill>
                <a:latin typeface="Cambria"/>
              </a:defRPr>
            </a:pPr>
            <a:r>
              <a:t>of Spiking Neural Networks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0" i="1">
                <a:solidFill>
                  <a:srgbClr val="E0B85F"/>
                </a:solidFill>
                <a:latin typeface="Cambria"/>
              </a:defRPr>
            </a:pPr>
            <a:r>
              <a:t>Membrane Potential Initialization &amp; Threshold-Robust Surrogate Gradients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69080"/>
            <a:ext cx="914400" cy="36576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Hyunho Kook  (국 현 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CBD8E0"/>
                </a:solidFill>
                <a:latin typeface="Calibri"/>
              </a:defRPr>
            </a:pPr>
            <a:r>
              <a:t>Advisor: Prof. Eunhyeok Park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CBD8E0"/>
                </a:solidFill>
                <a:latin typeface="Calibri"/>
              </a:defRPr>
            </a:pPr>
            <a:r>
              <a:t>Committee: Prof. Jungseul Ok · Prof. Jae-Joon Kim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8095A8"/>
                </a:solidFill>
                <a:latin typeface="Calibri"/>
              </a:defRPr>
            </a:pPr>
            <a:r>
              <a:t>Department of Computer Science and Engineering · POSTECH ·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1D7E7E"/>
                </a:solidFill>
                <a:latin typeface="Calibri"/>
              </a:defRPr>
            </a:pPr>
            <a:r>
              <a:rPr spc="300"/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Why Spiking Neural Networks?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6583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 i="0">
                <a:solidFill>
                  <a:srgbClr val="0F2540"/>
                </a:solidFill>
                <a:latin typeface="Calibri"/>
              </a:defRPr>
            </a:pPr>
            <a:r>
              <a:t>DNNs are powerful but expensive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Training and serving large models routinely consumes megawatt-scale power; even edge inference is hard under tight energy budgets.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6583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 i="0">
                <a:solidFill>
                  <a:srgbClr val="0F2540"/>
                </a:solidFill>
                <a:latin typeface="Calibri"/>
              </a:defRPr>
            </a:pPr>
            <a:r>
              <a:t>SNNs: an event-driven alternative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Information flows as discrete spikes over time. Paired with neuromorphic hardware, computation skips inactive neurons — orders of magnitude lower energy.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6583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 i="0">
                <a:solidFill>
                  <a:srgbClr val="E56945"/>
                </a:solidFill>
                <a:latin typeface="Calibri"/>
              </a:defRPr>
            </a:pPr>
            <a:r>
              <a:t>But direct training is unstable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Recent direct-training methods narrowed the accuracy gap, yet two persistent instabilities still hold SNNs back.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783080"/>
            <a:ext cx="4023360" cy="420624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0116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 i="0">
                <a:solidFill>
                  <a:srgbClr val="E0B85F"/>
                </a:solidFill>
                <a:latin typeface="Calibri"/>
              </a:defRPr>
            </a:pPr>
            <a:r>
              <a:rPr spc="400"/>
              <a:t>THIS 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42316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 i="0">
                <a:solidFill>
                  <a:srgbClr val="FFFFFF"/>
                </a:solidFill>
                <a:latin typeface="Cambria"/>
              </a:defRPr>
            </a:pPr>
            <a:r>
              <a:t>Two instabilities,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834639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 i="0">
                <a:solidFill>
                  <a:srgbClr val="FFFFFF"/>
                </a:solidFill>
                <a:latin typeface="Cambria"/>
              </a:defRPr>
            </a:pPr>
            <a:r>
              <a:t>two principled fixes.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611880"/>
            <a:ext cx="36576" cy="777240"/>
          </a:xfrm>
          <a:prstGeom prst="rect">
            <a:avLst/>
          </a:prstGeom>
          <a:solidFill>
            <a:srgbClr val="1D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36118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①  Temporal Covariate Shift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39319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CBD8E0"/>
                </a:solidFill>
                <a:latin typeface="Calibri"/>
              </a:defRPr>
            </a:pPr>
            <a:r>
              <a:t>in the membrane potential — invisible to existing remedies.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4709160"/>
            <a:ext cx="36576" cy="868680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47091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②  Gradient pathology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50292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CBD8E0"/>
                </a:solidFill>
                <a:latin typeface="Calibri"/>
              </a:defRPr>
            </a:pPr>
            <a:r>
              <a:t>when the firing threshold becomes a learnable parameter — never explicitly characterized before.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Defense — Hyunho Kook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1D7E7E"/>
                </a:solidFill>
                <a:latin typeface="Calibri"/>
              </a:defRPr>
            </a:pPr>
            <a:r>
              <a:rPr spc="300"/>
              <a:t>BACKGROUND ·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Spiking Neurons in 60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1">
                <a:solidFill>
                  <a:srgbClr val="7A7A7A"/>
                </a:solidFill>
                <a:latin typeface="Calibri"/>
              </a:defRPr>
            </a:pPr>
            <a:r>
              <a:t>Three discrete-time updates, plus one trick to get gradients through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 i="0">
                <a:solidFill>
                  <a:srgbClr val="0F2540"/>
                </a:solidFill>
                <a:latin typeface="Calibri"/>
              </a:defRPr>
            </a:pPr>
            <a:r>
              <a:t>Leaky Integrate-and-Fire neuron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5669280" cy="502920"/>
          </a:xfrm>
          <a:prstGeom prst="rect">
            <a:avLst/>
          </a:prstGeom>
          <a:solidFill>
            <a:srgbClr val="F8F7F2"/>
          </a:solidFill>
          <a:ln w="635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7889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 i="0">
                <a:solidFill>
                  <a:srgbClr val="1D7E7E"/>
                </a:solidFill>
                <a:latin typeface="Calibri"/>
              </a:defRPr>
            </a:pPr>
            <a:r>
              <a:t>Integrate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78892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mbria Math"/>
              </a:defRPr>
            </a:pPr>
            <a:r>
              <a:t>M[t] = (1−1/τ)·U[t−1]  +  (1/τ)·I_in[t]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37560"/>
            <a:ext cx="5669280" cy="502920"/>
          </a:xfrm>
          <a:prstGeom prst="rect">
            <a:avLst/>
          </a:prstGeom>
          <a:solidFill>
            <a:srgbClr val="F8F7F2"/>
          </a:solidFill>
          <a:ln w="635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38327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 i="0">
                <a:solidFill>
                  <a:srgbClr val="1D7E7E"/>
                </a:solidFill>
                <a:latin typeface="Calibri"/>
              </a:defRPr>
            </a:pPr>
            <a:r>
              <a:t>Fire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83279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mbria Math"/>
              </a:defRPr>
            </a:pPr>
            <a:r>
              <a:t>S[t] = H( M[t] − V_thr ) ∈ {0, 1}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5669280" cy="502920"/>
          </a:xfrm>
          <a:prstGeom prst="rect">
            <a:avLst/>
          </a:prstGeom>
          <a:solidFill>
            <a:srgbClr val="F8F7F2"/>
          </a:solidFill>
          <a:ln w="635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97763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 i="0">
                <a:solidFill>
                  <a:srgbClr val="1D7E7E"/>
                </a:solidFill>
                <a:latin typeface="Calibri"/>
              </a:defRPr>
            </a:pPr>
            <a:r>
              <a:t>Reset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977639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mbria Math"/>
              </a:defRPr>
            </a:pPr>
            <a:r>
              <a:t>U[t] = M[t] − V_thr · S[t]   (soft reset)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 i="1">
                <a:solidFill>
                  <a:srgbClr val="7A7A7A"/>
                </a:solidFill>
                <a:latin typeface="Calibri"/>
              </a:defRPr>
            </a:pPr>
            <a:r>
              <a:t>Two learnable parameters:  τ (leakage)  ·  V_thr (threshold).</a:t>
            </a:r>
          </a:p>
        </p:txBody>
      </p:sp>
      <p:pic>
        <p:nvPicPr>
          <p:cNvPr id="16" name="Picture 15" descr="lif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394960" cy="24445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0" y="46177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0" i="1">
                <a:solidFill>
                  <a:srgbClr val="7A7A7A"/>
                </a:solidFill>
                <a:latin typeface="Calibri"/>
              </a:defRPr>
            </a:pPr>
            <a:r>
              <a:t>M[t] integrates inputs, fires at V_thr, resets — repeat.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98348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E56945"/>
                </a:solidFill>
                <a:latin typeface="Calibri"/>
              </a:defRPr>
            </a:pPr>
            <a:r>
              <a:t>Heaviside H is not differentiable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349240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Surrogate gradient: backward pass uses smooth f'(x) ≈ H'(x).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669280"/>
            <a:ext cx="54864" cy="411480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2064" y="5669280"/>
            <a:ext cx="11192256" cy="41148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E0B85F"/>
                </a:solidFill>
                <a:latin typeface="Calibri"/>
              </a:defRPr>
            </a:pPr>
            <a:r>
              <a:t>Everything in this thesis turns on M[t] and V_thr  ·  TCS at M[t]  ·  pathology at V_thr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Defense — Hyunho Kook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1D7E7E"/>
                </a:solidFill>
                <a:latin typeface="Calibri"/>
              </a:defRPr>
            </a:pPr>
            <a:r>
              <a:rPr spc="300"/>
              <a:t>BACKGROUND ·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Surrogate Gradient — Training Through the Spike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1">
                <a:solidFill>
                  <a:srgbClr val="7A7A7A"/>
                </a:solidFill>
                <a:latin typeface="Calibri"/>
              </a:defRPr>
            </a:pPr>
            <a:r>
              <a:t>Spikes are non-differentiable; smooth surrogates re-open backprop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40280"/>
            <a:ext cx="5486400" cy="2331720"/>
          </a:xfrm>
          <a:prstGeom prst="rect">
            <a:avLst/>
          </a:prstGeom>
          <a:solidFill>
            <a:srgbClr val="FAEEE0"/>
          </a:solidFill>
          <a:ln w="19050">
            <a:solidFill>
              <a:srgbClr val="E56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 i="0">
                <a:solidFill>
                  <a:srgbClr val="E56945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0">
                <a:solidFill>
                  <a:srgbClr val="0F2540"/>
                </a:solidFill>
                <a:latin typeface="Cambria Math"/>
              </a:defRPr>
            </a:pPr>
            <a:r>
              <a:t>Forward:   S = H( M − V_thr )  ∈  {0, 1}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0">
                <a:solidFill>
                  <a:srgbClr val="E56945"/>
                </a:solidFill>
                <a:latin typeface="Cambria Math"/>
              </a:defRPr>
            </a:pPr>
            <a:r>
              <a:t>Backward:   ∂S / ∂M  =  δ( M − V_thr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Heaviside has zero gradient almost everywhere, with a delta</a:t>
            </a:r>
            <a:br/>
            <a:r>
              <a:t>spike exactly at threshold — gradient information cannot flow.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240280"/>
            <a:ext cx="5486400" cy="2331720"/>
          </a:xfrm>
          <a:prstGeom prst="rect">
            <a:avLst/>
          </a:prstGeom>
          <a:solidFill>
            <a:srgbClr val="E5F5F0"/>
          </a:solidFill>
          <a:ln w="19050">
            <a:solidFill>
              <a:srgbClr val="1D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 i="0">
                <a:solidFill>
                  <a:srgbClr val="1D7E7E"/>
                </a:solidFill>
                <a:latin typeface="Calibri"/>
              </a:defRPr>
            </a:pPr>
            <a:r>
              <a:t>The fix:  surrogate gradient  (SG)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7432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Forward unchanged.   In backward, replace δ with smooth f'( x 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2461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0">
                <a:solidFill>
                  <a:srgbClr val="1D7E7E"/>
                </a:solidFill>
                <a:latin typeface="Cambria Math"/>
              </a:defRPr>
            </a:pPr>
            <a:r>
              <a:t>∂S / ∂M  ≈  f'( x ),    | x | &lt; γ/2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84048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f' is peak-normalized (max = 1), supported on a window of</a:t>
            </a:r>
            <a:br/>
            <a:r>
              <a:t>width γ around 0.   Forward stays binary; gradient flows.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0F2540"/>
                </a:solidFill>
                <a:latin typeface="Calibri"/>
              </a:defRPr>
            </a:pPr>
            <a:r>
              <a:t>Common shapes  ·  same window, different curve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6636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▸  Rectangular   ▸  Triangular   ▸  Arctan   ▸  Sigmoid</a:t>
            </a:r>
            <a:br/>
            <a:br/>
            <a:r>
              <a:t>Shape matters less than scale — TrSG works across all four.</a:t>
            </a:r>
            <a:br/>
            <a:r>
              <a:t>γ controls the active window WIDTH; height is set by the chain rule.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4754880"/>
            <a:ext cx="54864" cy="1417320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18503" y="4754880"/>
            <a:ext cx="5431536" cy="141732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4800600"/>
            <a:ext cx="50292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E0B85F"/>
                </a:solidFill>
                <a:latin typeface="Calibri"/>
              </a:defRPr>
            </a:pPr>
            <a:r>
              <a:t>Two natural choices for x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x = M − V_thr  →  AS-SG  (Absolute scale)</a:t>
            </a:r>
            <a:br/>
            <a:r>
              <a:t>x = M / V_thr − 1  →  RS-SG  (Relative scale)</a:t>
            </a:r>
            <a:br/>
            <a:br/>
            <a:r>
              <a:t>Same SG curve, two ways to plug in V_thr → analyzed in Part II.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Defense — Hyunho Kook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1D7E7E"/>
                </a:solidFill>
                <a:latin typeface="Calibri"/>
              </a:defRPr>
            </a:pPr>
            <a:r>
              <a:rPr spc="300"/>
              <a:t>SETUP ·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Diagnosis ①: TCS Lives in the Membrane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 i="0">
                <a:solidFill>
                  <a:srgbClr val="0F2540"/>
                </a:solidFill>
                <a:latin typeface="Calibri"/>
              </a:defRPr>
            </a:pPr>
            <a:r>
              <a:t>What everyone notices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97480"/>
            <a:ext cx="5943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Activation distributions drift across timesteps. Batch-norm statistics estimated</a:t>
            </a:r>
            <a:br/>
            <a:r>
              <a:t>at one timestep no longer fit at another — accuracy drops.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 i="0">
                <a:solidFill>
                  <a:srgbClr val="0F2540"/>
                </a:solidFill>
                <a:latin typeface="Calibri"/>
              </a:defRPr>
            </a:pPr>
            <a:r>
              <a:t>What existing fixes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5196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TEBN, TAB add per-timestep BN parameters.</a:t>
            </a:r>
            <a:br/>
            <a:r>
              <a:t>More compute, more parameters — and they don't reach the cause.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54864" cy="868680"/>
          </a:xfrm>
          <a:prstGeom prst="rect">
            <a:avLst/>
          </a:prstGeom>
          <a:solidFill>
            <a:srgbClr val="E56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" y="5486400"/>
            <a:ext cx="5888736" cy="86868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532120"/>
            <a:ext cx="5486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E56945"/>
                </a:solidFill>
                <a:latin typeface="Calibri"/>
              </a:defRPr>
            </a:pPr>
            <a:r>
              <a:t>Our claim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TCS originates one level deeper — in M[t] itself.</a:t>
            </a:r>
          </a:p>
        </p:txBody>
      </p:sp>
      <p:pic>
        <p:nvPicPr>
          <p:cNvPr id="11" name="Picture 10" descr="density_plot_membrane_potential_tdb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194560"/>
            <a:ext cx="4937760" cy="2440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0" y="46177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 i="1">
                <a:solidFill>
                  <a:srgbClr val="E56945"/>
                </a:solidFill>
                <a:latin typeface="Calibri"/>
              </a:defRPr>
            </a:pPr>
            <a:r>
              <a:t>M[t] under tdBN — distribution clearly drifts as t grows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Defense — Hyunho Kook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1D7E7E"/>
                </a:solidFill>
                <a:latin typeface="Calibri"/>
              </a:defRPr>
            </a:pPr>
            <a:r>
              <a:rPr spc="300"/>
              <a:t>SETUP ·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Diagnosis ②: Trainable V_thr Breaks the Gradient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1">
                <a:solidFill>
                  <a:srgbClr val="7A7A7A"/>
                </a:solidFill>
                <a:latin typeface="Calibri"/>
              </a:defRPr>
            </a:pPr>
            <a:r>
              <a:t>PLIF, LTMD, DIET-SNN all let V_thr learn — but the surrogate gradient is scale-sensitive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5349240" cy="2377440"/>
          </a:xfrm>
          <a:prstGeom prst="rect">
            <a:avLst/>
          </a:prstGeom>
          <a:solidFill>
            <a:srgbClr val="FAEEE0"/>
          </a:solidFill>
          <a:ln w="15240">
            <a:solidFill>
              <a:srgbClr val="E56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 i="0">
                <a:solidFill>
                  <a:srgbClr val="E56945"/>
                </a:solidFill>
                <a:latin typeface="Calibri"/>
              </a:defRPr>
            </a:pPr>
            <a:r>
              <a:t>V_thr ≪ 1   (small threshold)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▸  AS-SG floods — fixed window covers almost the entire distribution</a:t>
            </a:r>
          </a:p>
          <a:p>
            <a:pPr>
              <a:spcBef>
                <a:spcPts val="600"/>
              </a:spcBef>
              <a:defRPr sz="1200">
                <a:solidFill>
                  <a:srgbClr val="1A1A1A"/>
                </a:solidFill>
                <a:latin typeface="Calibri"/>
              </a:defRPr>
            </a:pPr>
            <a:r>
              <a:t>▸  RS-SG explodes — the 1/V_thr factor blows the magnitude up</a:t>
            </a:r>
          </a:p>
          <a:p>
            <a:pPr>
              <a:spcBef>
                <a:spcPts val="600"/>
              </a:spcBef>
              <a:defRPr sz="1200">
                <a:solidFill>
                  <a:srgbClr val="1A1A1A"/>
                </a:solidFill>
                <a:latin typeface="Calibri"/>
              </a:defRPr>
            </a:pPr>
            <a:r>
              <a:t>▸  Real example: at V_thr = 0.1, RS-SG diverges to NaN within 100 epochs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2286000"/>
            <a:ext cx="5349240" cy="2377440"/>
          </a:xfrm>
          <a:prstGeom prst="rect">
            <a:avLst/>
          </a:prstGeom>
          <a:solidFill>
            <a:srgbClr val="FAEEE0"/>
          </a:solidFill>
          <a:ln w="15240">
            <a:solidFill>
              <a:srgbClr val="E56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46888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 i="0">
                <a:solidFill>
                  <a:srgbClr val="E56945"/>
                </a:solidFill>
                <a:latin typeface="Calibri"/>
              </a:defRPr>
            </a:pPr>
            <a:r>
              <a:t>V_thr ≫ 1   (large threshold)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92608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▸  AS-SG starves — fixed window covers a tiny tail of the distribution</a:t>
            </a:r>
          </a:p>
          <a:p>
            <a:pPr>
              <a:spcBef>
                <a:spcPts val="600"/>
              </a:spcBef>
              <a:defRPr sz="1200">
                <a:solidFill>
                  <a:srgbClr val="1A1A1A"/>
                </a:solidFill>
                <a:latin typeface="Calibri"/>
              </a:defRPr>
            </a:pPr>
            <a:r>
              <a:t>▸  RS-SG vanishes — the same 1/V_thr factor shrinks the magnitude</a:t>
            </a:r>
          </a:p>
          <a:p>
            <a:pPr>
              <a:spcBef>
                <a:spcPts val="600"/>
              </a:spcBef>
              <a:defRPr sz="1200">
                <a:solidFill>
                  <a:srgbClr val="1A1A1A"/>
                </a:solidFill>
                <a:latin typeface="Calibri"/>
              </a:defRPr>
            </a:pPr>
            <a:r>
              <a:t>▸  Real example: at V_thr = 2.0, AS-SG hits 0% active neurons by epoch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937760"/>
            <a:ext cx="54864" cy="1280160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2064" y="4937760"/>
            <a:ext cx="11192256" cy="128016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10789920" cy="11887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E0B85F"/>
                </a:solidFill>
                <a:latin typeface="Calibri"/>
              </a:defRPr>
            </a:pPr>
            <a:r>
              <a:t>These are not corner cases.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Trainable V_thr in practice drifts well below 1 in early layers and above 2 in deep ones —</a:t>
            </a:r>
            <a:br/>
            <a:r>
              <a:t>exactly the regimes where AS-SG and RS-SG both fail. We'll quantify in Part II.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Defense — Hyunho Kook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1D7E7E"/>
                </a:solidFill>
                <a:latin typeface="Calibri"/>
              </a:defRPr>
            </a:pPr>
            <a:r>
              <a:rPr spc="300"/>
              <a:t>PART I · MP-INIT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Why Does the Membrane Potential Drift?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1">
                <a:solidFill>
                  <a:srgbClr val="7A7A7A"/>
                </a:solidFill>
                <a:latin typeface="Calibri"/>
              </a:defRPr>
            </a:pPr>
            <a:r>
              <a:t>Because it's a Markov chain pulled toward a unique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54864" cy="640080"/>
          </a:xfrm>
          <a:prstGeom prst="rect">
            <a:avLst/>
          </a:prstGeom>
          <a:solidFill>
            <a:srgbClr val="1D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2286000"/>
            <a:ext cx="6528816" cy="64008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6126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1D7E7E"/>
                </a:solidFill>
                <a:latin typeface="Calibri"/>
              </a:defRPr>
            </a:pPr>
            <a:r>
              <a:t>The recurrence is a Markov chain</a:t>
            </a:r>
          </a:p>
          <a:p>
            <a:pPr>
              <a:spcBef>
                <a:spcPts val="600"/>
              </a:spcBef>
              <a:defRPr sz="1100">
                <a:solidFill>
                  <a:srgbClr val="1A1A1A"/>
                </a:solidFill>
                <a:latin typeface="Calibri"/>
              </a:defRPr>
            </a:pPr>
            <a:r>
              <a:t>U[t+1] = f( U[t], I_in[t+1] ) — Markov by construction;  i.i.d. inputs ⇒ time-homogeneous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54864" cy="1463040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" y="3108960"/>
            <a:ext cx="6528816" cy="146304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54679"/>
            <a:ext cx="61264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E0B85F"/>
                </a:solidFill>
                <a:latin typeface="Calibri"/>
              </a:defRPr>
            </a:pPr>
            <a:r>
              <a:t>Theorem  (Doeblin minorization)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Under (i.i.d. inputs) + (bounded U[t]),</a:t>
            </a:r>
            <a:br/>
            <a:r>
              <a:t>the chain has a unique stationary π.  Moreover,</a:t>
            </a:r>
            <a:br/>
            <a:br/>
            <a:r>
              <a:t>‖ Pⁿ(x, ·) − π(·) ‖_TV   ≤   C · (1 − ε)ⁿ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 i="0">
                <a:solidFill>
                  <a:srgbClr val="E56945"/>
                </a:solidFill>
                <a:latin typeface="Calibri"/>
              </a:defRPr>
            </a:pPr>
            <a:r>
              <a:t>Implications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6583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▸  Initial state ≠ π  ⇒  drift is inevitable</a:t>
            </a:r>
          </a:p>
          <a:p>
            <a:pPr>
              <a:spcBef>
                <a:spcPts val="600"/>
              </a:spcBef>
              <a:defRPr sz="1200">
                <a:solidFill>
                  <a:srgbClr val="1A1A1A"/>
                </a:solidFill>
                <a:latin typeface="Calibri"/>
              </a:defRPr>
            </a:pPr>
            <a:r>
              <a:t>▸  Standard U[0] = 0 is far from π</a:t>
            </a:r>
          </a:p>
          <a:p>
            <a:pPr>
              <a:spcBef>
                <a:spcPts val="600"/>
              </a:spcBef>
              <a:defRPr sz="1200">
                <a:solidFill>
                  <a:srgbClr val="1A1A1A"/>
                </a:solidFill>
                <a:latin typeface="Calibri"/>
              </a:defRPr>
            </a:pPr>
            <a:r>
              <a:t>▸  Don't fix BN — fix the initial state</a:t>
            </a:r>
          </a:p>
        </p:txBody>
      </p:sp>
      <p:pic>
        <p:nvPicPr>
          <p:cNvPr id="13" name="Picture 12" descr="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286000"/>
            <a:ext cx="4572000" cy="2428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0" y="4937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 i="0">
                <a:solidFill>
                  <a:srgbClr val="0F2540"/>
                </a:solidFill>
                <a:latin typeface="Calibri"/>
              </a:defRPr>
            </a:pPr>
            <a:r>
              <a:t>Distribution of U[t] for t = 0, 1, 2, 3, 4, 5, 8,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530352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0" i="1">
                <a:solidFill>
                  <a:srgbClr val="7A7A7A"/>
                </a:solidFill>
                <a:latin typeface="Calibri"/>
              </a:defRPr>
            </a:pPr>
            <a:r>
              <a:t>Starting from U[0]=0 (sharp red), the distribution exponentially approaches the stationary π (dashed navy).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Defense — Hyunho Kook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1D7E7E"/>
                </a:solidFill>
                <a:latin typeface="Calibri"/>
              </a:defRPr>
            </a:pPr>
            <a:r>
              <a:rPr spc="300"/>
              <a:t>PART I · MP-INIT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MP-Init — Initialize at the Stationary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1">
                <a:solidFill>
                  <a:srgbClr val="7A7A7A"/>
                </a:solidFill>
                <a:latin typeface="Calibri"/>
              </a:defRPr>
            </a:pPr>
            <a:r>
              <a:t>U[T] is the closest sample to π → use a running mean of E[U[T]]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 i="0">
                <a:solidFill>
                  <a:srgbClr val="0F2540"/>
                </a:solidFill>
                <a:latin typeface="Calibri"/>
              </a:defRPr>
            </a:pPr>
            <a:r>
              <a:t>Lemma — best constant is the mean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97480"/>
            <a:ext cx="54864" cy="640080"/>
          </a:xfrm>
          <a:prstGeom prst="rect">
            <a:avLst/>
          </a:prstGeom>
          <a:solidFill>
            <a:srgbClr val="1D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2697480"/>
            <a:ext cx="5888736" cy="64008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defRPr sz="1400">
                <a:solidFill>
                  <a:srgbClr val="1A1A1A"/>
                </a:solidFill>
                <a:latin typeface="Calibri"/>
              </a:defRPr>
            </a:pPr>
            <a:r>
              <a:t>argmin_c   E[ (π − c)² ]   =   E[π]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 i="0">
                <a:solidFill>
                  <a:srgbClr val="0F2540"/>
                </a:solidFill>
                <a:latin typeface="Calibri"/>
              </a:defRPr>
            </a:pPr>
            <a:r>
              <a:t>Practical estimator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5943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U[T] is the closest sample to π. Maintain a per-layer running mean</a:t>
            </a:r>
            <a:br/>
            <a:r>
              <a:t>μ ← β · μ  +  (1 − β) · mean( U[T] )    over training, β = 0.9.</a:t>
            </a:r>
            <a:br/>
            <a:r>
              <a:t>At every batch, set U[0] = 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286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 i="0">
                <a:solidFill>
                  <a:srgbClr val="0F2540"/>
                </a:solidFill>
                <a:latin typeface="Calibri"/>
              </a:defRPr>
            </a:pPr>
            <a:r>
              <a:t>Algorithm  (training-only)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2697480"/>
            <a:ext cx="4937760" cy="27432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27889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FFFFFF"/>
                </a:solidFill>
                <a:latin typeface="Consolas"/>
              </a:defRPr>
            </a:pPr>
            <a:r>
              <a:t>init  μ_l ← 0   for each layer l</a:t>
            </a:r>
          </a:p>
          <a:p>
            <a:pPr>
              <a:defRPr sz="125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250">
                <a:solidFill>
                  <a:srgbClr val="FFFFFF"/>
                </a:solidFill>
                <a:latin typeface="Consolas"/>
              </a:defRPr>
            </a:pPr>
            <a:r>
              <a:t>for each batch:</a:t>
            </a:r>
          </a:p>
          <a:p>
            <a:pPr>
              <a:defRPr sz="1250">
                <a:solidFill>
                  <a:srgbClr val="FFFFFF"/>
                </a:solidFill>
                <a:latin typeface="Consolas"/>
              </a:defRPr>
            </a:pPr>
            <a:r>
              <a:t>    U_l[0] ← μ_l</a:t>
            </a:r>
          </a:p>
          <a:p>
            <a:pPr>
              <a:defRPr sz="1250">
                <a:solidFill>
                  <a:srgbClr val="FFFFFF"/>
                </a:solidFill>
                <a:latin typeface="Consolas"/>
              </a:defRPr>
            </a:pPr>
            <a:r>
              <a:t>    run T LIF steps as usual</a:t>
            </a:r>
          </a:p>
          <a:p>
            <a:pPr>
              <a:defRPr sz="1250">
                <a:solidFill>
                  <a:srgbClr val="FFFFFF"/>
                </a:solidFill>
                <a:latin typeface="Consolas"/>
              </a:defRPr>
            </a:pPr>
            <a:r>
              <a:t>    m ← mean( U_l[T] of active neurons )</a:t>
            </a:r>
          </a:p>
          <a:p>
            <a:pPr>
              <a:defRPr sz="1250">
                <a:solidFill>
                  <a:srgbClr val="FFFFFF"/>
                </a:solidFill>
                <a:latin typeface="Consolas"/>
              </a:defRPr>
            </a:pPr>
            <a:r>
              <a:t>    μ_l ← β · μ_l  +  (1 − β) · 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532120"/>
            <a:ext cx="54864" cy="822960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" y="5532120"/>
            <a:ext cx="11192256" cy="822960"/>
          </a:xfrm>
          <a:prstGeom prst="rect">
            <a:avLst/>
          </a:prstGeom>
          <a:solidFill>
            <a:srgbClr val="1D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77840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Inference: μ frozen → standard LIF dynamics</a:t>
            </a:r>
          </a:p>
          <a:p>
            <a:pPr>
              <a:spcBef>
                <a:spcPts val="600"/>
              </a:spcBef>
              <a:defRPr sz="1100">
                <a:solidFill>
                  <a:srgbClr val="E0F0EA"/>
                </a:solidFill>
                <a:latin typeface="Calibri"/>
              </a:defRPr>
            </a:pPr>
            <a:r>
              <a:t>Zero changes to BN, no per-timestep parameters, full neuromorphic-hardware compatibility.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Defense — Hyunho Kook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1D7E7E"/>
                </a:solidFill>
                <a:latin typeface="Calibri"/>
              </a:defRPr>
            </a:pPr>
            <a:r>
              <a:rPr spc="300"/>
              <a:t>PART I · MP-INIT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MP-Init Works — in Both Distribution and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 i="1">
                <a:solidFill>
                  <a:srgbClr val="7A7A7A"/>
                </a:solidFill>
                <a:latin typeface="Calibri"/>
              </a:defRPr>
            </a:pPr>
            <a:r>
              <a:t>Membrane potential distributions across timesteps  (ResNet-19 / CIFAR-100)</a:t>
            </a:r>
          </a:p>
        </p:txBody>
      </p:sp>
      <p:pic>
        <p:nvPicPr>
          <p:cNvPr id="5" name="Picture 4" descr="density_plot_membrane_potential_tdb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0"/>
            <a:ext cx="2697480" cy="1333081"/>
          </a:xfrm>
          <a:prstGeom prst="rect">
            <a:avLst/>
          </a:prstGeom>
        </p:spPr>
      </p:pic>
      <p:pic>
        <p:nvPicPr>
          <p:cNvPr id="6" name="Picture 5" descr="density_plot_membrane_potential_teb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560320"/>
            <a:ext cx="2697480" cy="1333081"/>
          </a:xfrm>
          <a:prstGeom prst="rect">
            <a:avLst/>
          </a:prstGeom>
        </p:spPr>
      </p:pic>
      <p:pic>
        <p:nvPicPr>
          <p:cNvPr id="7" name="Picture 6" descr="density_plot_membrane_potential_t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560320"/>
            <a:ext cx="2697480" cy="1333081"/>
          </a:xfrm>
          <a:prstGeom prst="rect">
            <a:avLst/>
          </a:prstGeom>
        </p:spPr>
      </p:pic>
      <p:pic>
        <p:nvPicPr>
          <p:cNvPr id="8" name="Picture 7" descr="density_plot_membrane_potential_mpin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2560320"/>
            <a:ext cx="2697480" cy="13330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25196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0" i="0">
                <a:solidFill>
                  <a:srgbClr val="7A7A7A"/>
                </a:solidFill>
                <a:latin typeface="Calibri"/>
              </a:defRPr>
            </a:pPr>
            <a:r>
              <a:t>tdBN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25196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0" i="0">
                <a:solidFill>
                  <a:srgbClr val="7A7A7A"/>
                </a:solidFill>
                <a:latin typeface="Calibri"/>
              </a:defRPr>
            </a:pPr>
            <a:r>
              <a:t>TEBN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25196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0" i="0">
                <a:solidFill>
                  <a:srgbClr val="7A7A7A"/>
                </a:solidFill>
                <a:latin typeface="Calibri"/>
              </a:defRPr>
            </a:pPr>
            <a:r>
              <a:t>TAB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425196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 i="0">
                <a:solidFill>
                  <a:srgbClr val="1D7E7E"/>
                </a:solidFill>
                <a:latin typeface="Calibri"/>
              </a:defRPr>
            </a:pPr>
            <a:r>
              <a:t>MP-Init (ours)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262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 i="0">
                <a:solidFill>
                  <a:srgbClr val="0F2540"/>
                </a:solidFill>
                <a:latin typeface="Calibri"/>
              </a:defRPr>
            </a:pPr>
            <a:r>
              <a:t>Consistent accuracy gain on every baseline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4846320"/>
          <a:ext cx="6583680" cy="1412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371600"/>
                <a:gridCol w="1371600"/>
              </a:tblGrid>
              <a:tr h="292608">
                <a:tc>
                  <a:txBody>
                    <a:bodyPr anchor="ctr"/>
                    <a:lstStyle/>
                    <a:p>
                      <a:pPr algn="l">
                        <a:defRPr sz="1100" b="1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Setting</a:t>
                      </a:r>
                    </a:p>
                  </a:txBody>
                  <a:tcPr marL="137160" marR="137160">
                    <a:solidFill>
                      <a:srgbClr val="E5F5F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marL="137160" marR="137160">
                    <a:solidFill>
                      <a:srgbClr val="E5F5F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+ MP-Init</a:t>
                      </a:r>
                    </a:p>
                  </a:txBody>
                  <a:tcPr marL="137160" marR="137160">
                    <a:solidFill>
                      <a:srgbClr val="E5F5F0"/>
                    </a:solidFill>
                  </a:tcPr>
                </a:tc>
              </a:tr>
              <a:tr h="224028">
                <a:tc>
                  <a:txBody>
                    <a:bodyPr anchor="ctr"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CIFAR-100  ·  T=2  ·  tdBN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0">
                          <a:solidFill>
                            <a:srgbClr val="7A7A7A"/>
                          </a:solidFill>
                          <a:latin typeface="Calibri"/>
                        </a:defRPr>
                      </a:pPr>
                      <a:r>
                        <a:t>72.35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1D7E7E"/>
                          </a:solidFill>
                          <a:latin typeface="Calibri"/>
                        </a:defRPr>
                      </a:pPr>
                      <a:r>
                        <a:t>74.01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anchor="ctr"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CIFAR-100  ·  T=4  ·  tdBN</a:t>
                      </a:r>
                    </a:p>
                  </a:txBody>
                  <a:tcPr marL="137160" marR="1371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0">
                          <a:solidFill>
                            <a:srgbClr val="7A7A7A"/>
                          </a:solidFill>
                          <a:latin typeface="Calibri"/>
                        </a:defRPr>
                      </a:pPr>
                      <a:r>
                        <a:t>75.55</a:t>
                      </a:r>
                    </a:p>
                  </a:txBody>
                  <a:tcPr marL="137160" marR="1371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1D7E7E"/>
                          </a:solidFill>
                          <a:latin typeface="Calibri"/>
                        </a:defRPr>
                      </a:pPr>
                      <a:r>
                        <a:t>76.09</a:t>
                      </a:r>
                    </a:p>
                  </a:txBody>
                  <a:tcPr marL="137160" marR="137160">
                    <a:solidFill>
                      <a:srgbClr val="F8F7F2"/>
                    </a:solidFill>
                  </a:tcPr>
                </a:tc>
              </a:tr>
              <a:tr h="224028">
                <a:tc>
                  <a:txBody>
                    <a:bodyPr anchor="ctr"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CIFAR-100  ·  T=4  ·  TEBN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0">
                          <a:solidFill>
                            <a:srgbClr val="7A7A7A"/>
                          </a:solidFill>
                          <a:latin typeface="Calibri"/>
                        </a:defRPr>
                      </a:pPr>
                      <a:r>
                        <a:t>75.96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1D7E7E"/>
                          </a:solidFill>
                          <a:latin typeface="Calibri"/>
                        </a:defRPr>
                      </a:pPr>
                      <a:r>
                        <a:t>76.45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anchor="ctr"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CIFAR-100  ·  T=4  ·  TAB</a:t>
                      </a:r>
                    </a:p>
                  </a:txBody>
                  <a:tcPr marL="137160" marR="1371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0">
                          <a:solidFill>
                            <a:srgbClr val="7A7A7A"/>
                          </a:solidFill>
                          <a:latin typeface="Calibri"/>
                        </a:defRPr>
                      </a:pPr>
                      <a:r>
                        <a:t>76.25</a:t>
                      </a:r>
                    </a:p>
                  </a:txBody>
                  <a:tcPr marL="137160" marR="13716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1D7E7E"/>
                          </a:solidFill>
                          <a:latin typeface="Calibri"/>
                        </a:defRPr>
                      </a:pPr>
                      <a:r>
                        <a:t>77.24</a:t>
                      </a:r>
                    </a:p>
                  </a:txBody>
                  <a:tcPr marL="137160" marR="137160">
                    <a:solidFill>
                      <a:srgbClr val="F8F7F2"/>
                    </a:solidFill>
                  </a:tcPr>
                </a:tc>
              </a:tr>
              <a:tr h="224028">
                <a:tc>
                  <a:txBody>
                    <a:bodyPr anchor="ctr"/>
                    <a:lstStyle/>
                    <a:p>
                      <a:pPr algn="l">
                        <a:defRPr sz="11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DVS-CIFAR10  ·  T=10  ·  tdBN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0">
                          <a:solidFill>
                            <a:srgbClr val="7A7A7A"/>
                          </a:solidFill>
                          <a:latin typeface="Calibri"/>
                        </a:defRPr>
                      </a:pPr>
                      <a:r>
                        <a:t>76.60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1D7E7E"/>
                          </a:solidFill>
                          <a:latin typeface="Calibri"/>
                        </a:defRPr>
                      </a:pPr>
                      <a:r>
                        <a:t>77.37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315200" y="4846320"/>
            <a:ext cx="4434840" cy="1417320"/>
          </a:xfrm>
          <a:prstGeom prst="rect">
            <a:avLst/>
          </a:prstGeom>
          <a:solidFill>
            <a:srgbClr val="FAEECB"/>
          </a:solidFill>
          <a:ln w="15240">
            <a:solidFill>
              <a:srgbClr val="E0B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498348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 i="0">
                <a:solidFill>
                  <a:srgbClr val="0F2540"/>
                </a:solidFill>
                <a:latin typeface="Cambria"/>
              </a:defRPr>
            </a:pPr>
            <a:r>
              <a:t>+1.66 %pt at T =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553212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1A1A1A"/>
                </a:solidFill>
                <a:latin typeface="Calibri"/>
              </a:defRPr>
            </a:pPr>
            <a:r>
              <a:t>Biggest gain in the most latency-critical regime —</a:t>
            </a:r>
            <a:br/>
            <a:r>
              <a:t>exactly where SNN energy efficiency matters.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Defense — Hyunho Kook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1D7E7E"/>
                </a:solidFill>
                <a:latin typeface="Calibri"/>
              </a:defRPr>
            </a:pPr>
            <a:r>
              <a:rPr spc="300"/>
              <a:t>PART I · MP-INIT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Why MP-Init Works — A Closer 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1">
                <a:solidFill>
                  <a:srgbClr val="7A7A7A"/>
                </a:solidFill>
                <a:latin typeface="Calibri"/>
              </a:defRPr>
            </a:pPr>
            <a:r>
              <a:t>Aligning distributions aligns gradients — and improves the firing-rate frontier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 i="0">
                <a:solidFill>
                  <a:srgbClr val="0F2540"/>
                </a:solidFill>
                <a:latin typeface="Calibri"/>
              </a:defRPr>
            </a:pPr>
            <a:r>
              <a:t>Gradient cosine similarity across timesteps</a:t>
            </a:r>
          </a:p>
        </p:txBody>
      </p:sp>
      <p:pic>
        <p:nvPicPr>
          <p:cNvPr id="6" name="Picture 5" descr="grad_coll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456" y="2606040"/>
            <a:ext cx="3683097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526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0" i="1">
                <a:solidFill>
                  <a:srgbClr val="7A7A7A"/>
                </a:solidFill>
                <a:latin typeface="Calibri"/>
              </a:defRPr>
            </a:pPr>
            <a:r>
              <a:t>ResNet-19 · CIFAR-100 · 4 timesteps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▸  Without MP-Init: gradients at t=1 conflict with later steps (cos 0.07–0.18)</a:t>
            </a:r>
          </a:p>
          <a:p>
            <a:pPr>
              <a:spcBef>
                <a:spcPts val="600"/>
              </a:spcBef>
              <a:defRPr sz="1200">
                <a:solidFill>
                  <a:srgbClr val="1A1A1A"/>
                </a:solidFill>
                <a:latin typeface="Calibri"/>
              </a:defRPr>
            </a:pPr>
            <a:r>
              <a:t>▸  With MP-Init: temporal ensemble realigned (cos ≈ 0.5)</a:t>
            </a:r>
          </a:p>
          <a:p>
            <a:pPr>
              <a:spcBef>
                <a:spcPts val="600"/>
              </a:spcBef>
              <a:defRPr sz="1200">
                <a:solidFill>
                  <a:srgbClr val="1A1A1A"/>
                </a:solidFill>
                <a:latin typeface="Calibri"/>
              </a:defRPr>
            </a:pPr>
            <a:r>
              <a:t>▸  Stable optimization — not just stable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 i="0">
                <a:solidFill>
                  <a:srgbClr val="0F2540"/>
                </a:solidFill>
                <a:latin typeface="Calibri"/>
              </a:defRPr>
            </a:pPr>
            <a:r>
              <a:t>Accuracy vs. firing rate  (Pareto frontier)</a:t>
            </a:r>
          </a:p>
        </p:txBody>
      </p:sp>
      <p:pic>
        <p:nvPicPr>
          <p:cNvPr id="10" name="Picture 9" descr="firing_rate_vs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06040"/>
            <a:ext cx="5219395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4526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0" i="1">
                <a:solidFill>
                  <a:srgbClr val="7A7A7A"/>
                </a:solidFill>
                <a:latin typeface="Calibri"/>
              </a:defRPr>
            </a:pPr>
            <a:r>
              <a:t>ResNet-19 · CIFAR-100 with sparsity regularizer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84632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▸  MP-Init dominates baseline at every firing rate</a:t>
            </a:r>
          </a:p>
          <a:p>
            <a:pPr>
              <a:spcBef>
                <a:spcPts val="600"/>
              </a:spcBef>
              <a:defRPr sz="1200">
                <a:solidFill>
                  <a:srgbClr val="1A1A1A"/>
                </a:solidFill>
                <a:latin typeface="Calibri"/>
              </a:defRPr>
            </a:pPr>
            <a:r>
              <a:t>▸  Even at 6% firing rate, beats all baseline settings</a:t>
            </a:r>
          </a:p>
          <a:p>
            <a:pPr>
              <a:spcBef>
                <a:spcPts val="600"/>
              </a:spcBef>
              <a:defRPr sz="1200">
                <a:solidFill>
                  <a:srgbClr val="1A1A1A"/>
                </a:solidFill>
                <a:latin typeface="Calibri"/>
              </a:defRPr>
            </a:pPr>
            <a:r>
              <a:t>▸  Gains come from spiking BETTER, not spiking MORE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080760"/>
            <a:ext cx="54864" cy="411480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" y="6080760"/>
            <a:ext cx="11192256" cy="411480"/>
          </a:xfrm>
          <a:prstGeom prst="rect">
            <a:avLst/>
          </a:prstGeom>
          <a:solidFill>
            <a:srgbClr val="1D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12648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Higher accuracy from more stable training — efficiency-preserving improvements, not accuracy-via-spend.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Defense — Hyunho Kook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1D7E7E"/>
                </a:solidFill>
                <a:latin typeface="Calibri"/>
              </a:defRPr>
            </a:pPr>
            <a:r>
              <a:rPr spc="300"/>
              <a:t>PART II · TRSG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Two Surrogate-Gradient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1">
                <a:solidFill>
                  <a:srgbClr val="7A7A7A"/>
                </a:solidFill>
                <a:latin typeface="Calibri"/>
              </a:defRPr>
            </a:pPr>
            <a:r>
              <a:t>AS-SG and RS-SG — look similar, behave very differently when V_thr is trainable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54864" cy="594360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2194560"/>
            <a:ext cx="11192256" cy="59436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0279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0F2540"/>
                </a:solidFill>
                <a:latin typeface="Calibri"/>
              </a:defRPr>
            </a:pPr>
            <a:r>
              <a:t>∂S/∂M ≈ f'(x)   ·   rectangular f' = 1 on | x | &lt; γ/2  (peak-normalized)   ·   γ = active window width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71800"/>
            <a:ext cx="4754880" cy="1371600"/>
          </a:xfrm>
          <a:prstGeom prst="rect">
            <a:avLst/>
          </a:prstGeom>
          <a:solidFill>
            <a:srgbClr val="F8F7F2"/>
          </a:solidFill>
          <a:ln w="19050">
            <a:solidFill>
              <a:srgbClr val="0F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3580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 i="0">
                <a:solidFill>
                  <a:srgbClr val="0F2540"/>
                </a:solidFill>
                <a:latin typeface="Calibri"/>
              </a:defRPr>
            </a:pPr>
            <a:r>
              <a:t>AS-SG  ·  Absolute-Scale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 i="0">
                <a:solidFill>
                  <a:srgbClr val="0F2540"/>
                </a:solidFill>
                <a:latin typeface="Cambria Math"/>
              </a:defRPr>
            </a:pPr>
            <a:r>
              <a:t>x = M[t] − V_thr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1">
                <a:solidFill>
                  <a:srgbClr val="E56945"/>
                </a:solidFill>
                <a:latin typeface="Calibri"/>
              </a:defRPr>
            </a:pPr>
            <a:r>
              <a:t>Window of FIXED width γ, centered at V_thr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480560"/>
            <a:ext cx="4754880" cy="1371600"/>
          </a:xfrm>
          <a:prstGeom prst="rect">
            <a:avLst/>
          </a:prstGeom>
          <a:solidFill>
            <a:srgbClr val="F8F7F2"/>
          </a:solidFill>
          <a:ln w="19050">
            <a:solidFill>
              <a:srgbClr val="0F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4456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 i="0">
                <a:solidFill>
                  <a:srgbClr val="0F2540"/>
                </a:solidFill>
                <a:latin typeface="Calibri"/>
              </a:defRPr>
            </a:pPr>
            <a:r>
              <a:t>RS-SG  ·  Relative-Scale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 i="0">
                <a:solidFill>
                  <a:srgbClr val="0F2540"/>
                </a:solidFill>
                <a:latin typeface="Cambria Math"/>
              </a:defRPr>
            </a:pPr>
            <a:r>
              <a:t>x = M[t] / V_thr − 1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1">
                <a:solidFill>
                  <a:srgbClr val="E0B85F"/>
                </a:solidFill>
                <a:latin typeface="Calibri"/>
              </a:defRPr>
            </a:pPr>
            <a:r>
              <a:t>Window SCALES with V_thr — but magnitude / V_thr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971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0" i="1">
                <a:solidFill>
                  <a:srgbClr val="7A7A7A"/>
                </a:solidFill>
                <a:latin typeface="Calibri"/>
              </a:defRPr>
            </a:pPr>
            <a:r>
              <a:t>Gradient-window vs membrane distribution</a:t>
            </a:r>
          </a:p>
        </p:txBody>
      </p:sp>
      <p:pic>
        <p:nvPicPr>
          <p:cNvPr id="17" name="Picture 16" descr="sg_wind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3291840"/>
            <a:ext cx="6400800" cy="246714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57200" y="5989320"/>
            <a:ext cx="54864" cy="365760"/>
          </a:xfrm>
          <a:prstGeom prst="rect">
            <a:avLst/>
          </a:prstGeom>
          <a:solidFill>
            <a:srgbClr val="E56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" y="5989320"/>
            <a:ext cx="11192256" cy="36576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035040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E0B85F"/>
                </a:solidFill>
                <a:latin typeface="Calibri"/>
              </a:defRPr>
            </a:pPr>
            <a:r>
              <a:t>Same when V_thr is fixed. Once V_thr trains, AS-SG and RS-SG break in opposite ways.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Defense — Hyunho Kook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1D7E7E"/>
                </a:solidFill>
                <a:latin typeface="Calibri"/>
              </a:defRPr>
            </a:pPr>
            <a:r>
              <a:rPr spc="300"/>
              <a:t>PART II · TRSG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Four Failure Modes — and One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1">
                <a:solidFill>
                  <a:srgbClr val="7A7A7A"/>
                </a:solidFill>
                <a:latin typeface="Calibri"/>
              </a:defRPr>
            </a:pPr>
            <a:r>
              <a:t>Both window width AND gradient magnitude must scale correctly with V_thr</a:t>
            </a:r>
          </a:p>
        </p:txBody>
      </p:sp>
      <p:pic>
        <p:nvPicPr>
          <p:cNvPr id="5" name="Picture 4" descr="second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744" y="1783080"/>
            <a:ext cx="3196206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58968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0" i="1">
                <a:solidFill>
                  <a:srgbClr val="7A7A7A"/>
                </a:solidFill>
                <a:latin typeface="Calibri"/>
              </a:defRPr>
            </a:pPr>
            <a:r>
              <a:t>Each colored box = active gradient region.   width = window  ·  height = magnitude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1703" y="5760720"/>
            <a:ext cx="2157984" cy="685800"/>
          </a:xfrm>
          <a:prstGeom prst="rect">
            <a:avLst/>
          </a:prstGeom>
          <a:solidFill>
            <a:srgbClr val="FAEEE0"/>
          </a:solidFill>
          <a:ln w="19050">
            <a:solidFill>
              <a:srgbClr val="E56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143" y="5852159"/>
            <a:ext cx="197510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 i="0">
                <a:solidFill>
                  <a:srgbClr val="E56945"/>
                </a:solidFill>
                <a:latin typeface="Calibri"/>
              </a:defRPr>
            </a:pPr>
            <a:r>
              <a:t>✗ Flood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143" y="6172200"/>
            <a:ext cx="197510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 i="0">
                <a:solidFill>
                  <a:srgbClr val="1A1A1A"/>
                </a:solidFill>
                <a:latin typeface="Calibri"/>
              </a:defRPr>
            </a:pPr>
            <a:r>
              <a:t>AS-SG · V_thr ≪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4279" y="5760720"/>
            <a:ext cx="2157984" cy="685800"/>
          </a:xfrm>
          <a:prstGeom prst="rect">
            <a:avLst/>
          </a:prstGeom>
          <a:solidFill>
            <a:srgbClr val="FAEEE0"/>
          </a:solidFill>
          <a:ln w="19050">
            <a:solidFill>
              <a:srgbClr val="E56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5719" y="5852159"/>
            <a:ext cx="197510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 i="0">
                <a:solidFill>
                  <a:srgbClr val="E56945"/>
                </a:solidFill>
                <a:latin typeface="Calibri"/>
              </a:defRPr>
            </a:pPr>
            <a:r>
              <a:t>✗ Starvation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5719" y="6172200"/>
            <a:ext cx="197510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 i="0">
                <a:solidFill>
                  <a:srgbClr val="1A1A1A"/>
                </a:solidFill>
                <a:latin typeface="Calibri"/>
              </a:defRPr>
            </a:pPr>
            <a:r>
              <a:t>AS-SG · V_thr ≫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16855" y="5760720"/>
            <a:ext cx="2157984" cy="685800"/>
          </a:xfrm>
          <a:prstGeom prst="rect">
            <a:avLst/>
          </a:prstGeom>
          <a:solidFill>
            <a:srgbClr val="FAEECB"/>
          </a:solidFill>
          <a:ln w="19050">
            <a:solidFill>
              <a:srgbClr val="E0B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8295" y="5852159"/>
            <a:ext cx="197510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 i="0">
                <a:solidFill>
                  <a:srgbClr val="E0B85F"/>
                </a:solidFill>
                <a:latin typeface="Calibri"/>
              </a:defRPr>
            </a:pPr>
            <a:r>
              <a:t>✗ Explosion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8295" y="6172200"/>
            <a:ext cx="197510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 i="0">
                <a:solidFill>
                  <a:srgbClr val="1A1A1A"/>
                </a:solidFill>
                <a:latin typeface="Calibri"/>
              </a:defRPr>
            </a:pPr>
            <a:r>
              <a:t>RS-SG · V_thr ≪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9431" y="5760720"/>
            <a:ext cx="2157984" cy="685800"/>
          </a:xfrm>
          <a:prstGeom prst="rect">
            <a:avLst/>
          </a:prstGeom>
          <a:solidFill>
            <a:srgbClr val="FAEECB"/>
          </a:solidFill>
          <a:ln w="19050">
            <a:solidFill>
              <a:srgbClr val="E0B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0871" y="5852159"/>
            <a:ext cx="197510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 i="0">
                <a:solidFill>
                  <a:srgbClr val="E0B85F"/>
                </a:solidFill>
                <a:latin typeface="Calibri"/>
              </a:defRPr>
            </a:pPr>
            <a:r>
              <a:t>✗ Vanishing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0871" y="6172200"/>
            <a:ext cx="197510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 i="0">
                <a:solidFill>
                  <a:srgbClr val="1A1A1A"/>
                </a:solidFill>
                <a:latin typeface="Calibri"/>
              </a:defRPr>
            </a:pPr>
            <a:r>
              <a:t>RS-SG · V_thr ≫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62007" y="5760720"/>
            <a:ext cx="2157984" cy="685800"/>
          </a:xfrm>
          <a:prstGeom prst="rect">
            <a:avLst/>
          </a:prstGeom>
          <a:solidFill>
            <a:srgbClr val="E5F5F0"/>
          </a:solidFill>
          <a:ln w="19050">
            <a:solidFill>
              <a:srgbClr val="1D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53447" y="5852159"/>
            <a:ext cx="197510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 i="0">
                <a:solidFill>
                  <a:srgbClr val="1D7E7E"/>
                </a:solidFill>
                <a:latin typeface="Calibri"/>
              </a:defRPr>
            </a:pPr>
            <a:r>
              <a:t>✓ Balanced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3447" y="6172200"/>
            <a:ext cx="197510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0" i="0">
                <a:solidFill>
                  <a:srgbClr val="0F2540"/>
                </a:solidFill>
                <a:latin typeface="Calibri"/>
              </a:defRPr>
            </a:pPr>
            <a:r>
              <a:t>TrSG · all regimes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Defense — Hyunho Kook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1D7E7E"/>
                </a:solidFill>
                <a:latin typeface="Calibri"/>
              </a:defRPr>
            </a:pPr>
            <a:r>
              <a:rPr spc="300"/>
              <a:t>PART II · TRSG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TrSG — One-Line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1">
                <a:solidFill>
                  <a:srgbClr val="7A7A7A"/>
                </a:solidFill>
                <a:latin typeface="Calibri"/>
              </a:defRPr>
            </a:pPr>
            <a:r>
              <a:t>Multiply the threshold on the forward path; chain rule cancels the bad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 i="0">
                <a:solidFill>
                  <a:srgbClr val="0F2540"/>
                </a:solidFill>
                <a:latin typeface="Calibri"/>
              </a:defRPr>
            </a:pPr>
            <a:r>
              <a:t>The recipe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3703320" cy="960120"/>
          </a:xfrm>
          <a:prstGeom prst="rect">
            <a:avLst/>
          </a:prstGeom>
          <a:solidFill>
            <a:srgbClr val="F8F7F2"/>
          </a:solidFill>
          <a:ln w="12700">
            <a:solidFill>
              <a:srgbClr val="1D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 i="0">
                <a:solidFill>
                  <a:srgbClr val="E0B85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70632"/>
            <a:ext cx="30632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 i="0">
                <a:solidFill>
                  <a:srgbClr val="0F2540"/>
                </a:solidFill>
                <a:latin typeface="Calibri"/>
              </a:defRPr>
            </a:pPr>
            <a:r>
              <a:t>Relative-scale window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08960"/>
            <a:ext cx="30632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 i="0">
                <a:solidFill>
                  <a:srgbClr val="1A1A1A"/>
                </a:solidFill>
                <a:latin typeface="Cambria Math"/>
              </a:defRPr>
            </a:pPr>
            <a:r>
              <a:t>x = M / V_thr − 1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2651760"/>
            <a:ext cx="3703320" cy="960120"/>
          </a:xfrm>
          <a:prstGeom prst="rect">
            <a:avLst/>
          </a:prstGeom>
          <a:solidFill>
            <a:srgbClr val="F8F7F2"/>
          </a:solidFill>
          <a:ln w="12700">
            <a:solidFill>
              <a:srgbClr val="1D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743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 i="0">
                <a:solidFill>
                  <a:srgbClr val="E0B85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770632"/>
            <a:ext cx="30632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 i="0">
                <a:solidFill>
                  <a:srgbClr val="0F2540"/>
                </a:solidFill>
                <a:latin typeface="Calibri"/>
              </a:defRPr>
            </a:pPr>
            <a:r>
              <a:t>Multiply on forward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108960"/>
            <a:ext cx="30632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 i="0">
                <a:solidFill>
                  <a:srgbClr val="1A1A1A"/>
                </a:solidFill>
                <a:latin typeface="Cambria Math"/>
              </a:defRPr>
            </a:pPr>
            <a:r>
              <a:t>O[t] = V_thr · S[t]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651760"/>
            <a:ext cx="3703320" cy="960120"/>
          </a:xfrm>
          <a:prstGeom prst="rect">
            <a:avLst/>
          </a:prstGeom>
          <a:solidFill>
            <a:srgbClr val="F8F7F2"/>
          </a:solidFill>
          <a:ln w="12700">
            <a:solidFill>
              <a:srgbClr val="1D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743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 i="0">
                <a:solidFill>
                  <a:srgbClr val="E0B85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770632"/>
            <a:ext cx="30632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 i="0">
                <a:solidFill>
                  <a:srgbClr val="0F2540"/>
                </a:solidFill>
                <a:latin typeface="Calibri"/>
              </a:defRPr>
            </a:pPr>
            <a:r>
              <a:t>Chain rule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108960"/>
            <a:ext cx="30632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 i="0">
                <a:solidFill>
                  <a:srgbClr val="1A1A1A"/>
                </a:solidFill>
                <a:latin typeface="Cambria Math"/>
              </a:defRPr>
            </a:pPr>
            <a:r>
              <a:t>∂O/∂M = f'(x)</a:t>
            </a:r>
          </a:p>
        </p:txBody>
      </p:sp>
      <p:pic>
        <p:nvPicPr>
          <p:cNvPr id="18" name="Picture 17" descr="chain_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931920"/>
            <a:ext cx="9418320" cy="2497643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7200" y="5852160"/>
            <a:ext cx="54864" cy="548640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" y="5852160"/>
            <a:ext cx="11192256" cy="548640"/>
          </a:xfrm>
          <a:prstGeom prst="rect">
            <a:avLst/>
          </a:prstGeom>
          <a:solidFill>
            <a:srgbClr val="1D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89788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Window adapts with V_thr  ·  gradient magnitude is threshold-invariant.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Defense — Hyunho Kook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1D7E7E"/>
                </a:solidFill>
                <a:latin typeface="Calibri"/>
              </a:defRPr>
            </a:pPr>
            <a:r>
              <a:rPr spc="300"/>
              <a:t>PART II · TRSG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Inference Stays Binary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1">
                <a:solidFill>
                  <a:srgbClr val="7A7A7A"/>
                </a:solidFill>
                <a:latin typeface="Calibri"/>
              </a:defRPr>
            </a:pPr>
            <a:r>
              <a:t>TrSG is a training-only trick — neuromorphic hardware never sees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 i="0">
                <a:solidFill>
                  <a:srgbClr val="0F2540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54864" cy="640080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2743200"/>
            <a:ext cx="11192256" cy="64008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defRPr sz="1200">
                <a:solidFill>
                  <a:srgbClr val="1A1A1A"/>
                </a:solidFill>
                <a:latin typeface="Calibri"/>
              </a:defRPr>
            </a:pPr>
            <a:r>
              <a:t>Forward:    O[t]  =  V_thr · S[t]    (real-valued — gradient flows cleanly through V_thr)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 i="0">
                <a:solidFill>
                  <a:srgbClr val="0F2540"/>
                </a:solidFill>
                <a:latin typeface="Calibri"/>
              </a:defRPr>
            </a:pPr>
            <a:r>
              <a:t>At deployment, absorb V_thr into the next layer's weights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69080"/>
            <a:ext cx="54864" cy="640080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" y="4069080"/>
            <a:ext cx="11192256" cy="64008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defRPr sz="1200">
                <a:solidFill>
                  <a:srgbClr val="1A1A1A"/>
                </a:solidFill>
                <a:latin typeface="Calibri"/>
              </a:defRPr>
            </a:pPr>
            <a:r>
              <a:t>W'_{l→l+1}   =   V_thr^l  ·  W_{l→l+1}    (one-time rescaling per layer)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00600"/>
            <a:ext cx="54864" cy="640080"/>
          </a:xfrm>
          <a:prstGeom prst="rect">
            <a:avLst/>
          </a:prstGeom>
          <a:solidFill>
            <a:srgbClr val="1D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" y="4800600"/>
            <a:ext cx="11192256" cy="640080"/>
          </a:xfrm>
          <a:prstGeom prst="rect">
            <a:avLst/>
          </a:prstGeom>
          <a:solidFill>
            <a:srgbClr val="E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4632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defRPr sz="1200">
                <a:solidFill>
                  <a:srgbClr val="0F2540"/>
                </a:solidFill>
                <a:latin typeface="Calibri"/>
              </a:defRPr>
            </a:pPr>
            <a:r>
              <a:t>Forward at test time:    O[t]  =  S[t]  ∈  {0, 1}      (standard LIF — back to binary spikes)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669280"/>
            <a:ext cx="54864" cy="640080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" y="5669280"/>
            <a:ext cx="11192256" cy="640080"/>
          </a:xfrm>
          <a:prstGeom prst="rect">
            <a:avLst/>
          </a:prstGeom>
          <a:solidFill>
            <a:srgbClr val="1D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71500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Standard LIF operators at inference. Hardware compatibility preserved.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Defense — Hyunho Kook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1D7E7E"/>
                </a:solidFill>
                <a:latin typeface="Calibri"/>
              </a:defRPr>
            </a:pPr>
            <a:r>
              <a:rPr spc="300"/>
              <a:t>PART II · TRSG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Why TrSG Works — A Stable Gradient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1">
                <a:solidFill>
                  <a:srgbClr val="7A7A7A"/>
                </a:solidFill>
                <a:latin typeface="Calibri"/>
              </a:defRPr>
            </a:pPr>
            <a:r>
              <a:t>Three stability metrics tell the same story across extreme V_thr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40280"/>
            <a:ext cx="3703320" cy="960120"/>
          </a:xfrm>
          <a:prstGeom prst="rect">
            <a:avLst/>
          </a:prstGeom>
          <a:solidFill>
            <a:srgbClr val="F8F7F2"/>
          </a:solidFill>
          <a:ln w="635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313432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0F2540"/>
                </a:solidFill>
                <a:latin typeface="Calibri"/>
              </a:defRPr>
            </a:pPr>
            <a:r>
              <a:t>AbsStr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 i="0">
                <a:solidFill>
                  <a:srgbClr val="1A1A1A"/>
                </a:solidFill>
                <a:latin typeface="Cambria Math"/>
              </a:defRPr>
            </a:pPr>
            <a:r>
              <a:t>mean |gradient|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98648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 i="1">
                <a:solidFill>
                  <a:srgbClr val="7A7A7A"/>
                </a:solidFill>
                <a:latin typeface="Calibri"/>
              </a:defRPr>
            </a:pPr>
            <a:r>
              <a:t>low → vanishing,   high → exploding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2240280"/>
            <a:ext cx="3703320" cy="960120"/>
          </a:xfrm>
          <a:prstGeom prst="rect">
            <a:avLst/>
          </a:prstGeom>
          <a:solidFill>
            <a:srgbClr val="F8F7F2"/>
          </a:solidFill>
          <a:ln w="635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313432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0F2540"/>
                </a:solidFill>
                <a:latin typeface="Calibri"/>
              </a:defRPr>
            </a:pPr>
            <a:r>
              <a:t>RatioAG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0604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 i="0">
                <a:solidFill>
                  <a:srgbClr val="1A1A1A"/>
                </a:solidFill>
                <a:latin typeface="Cambria Math"/>
              </a:defRPr>
            </a:pPr>
            <a:r>
              <a:t>% neurons with active gradient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898648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 i="1">
                <a:solidFill>
                  <a:srgbClr val="7A7A7A"/>
                </a:solidFill>
                <a:latin typeface="Calibri"/>
              </a:defRPr>
            </a:pPr>
            <a:r>
              <a:t>low → starvation,   high → flooding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240280"/>
            <a:ext cx="3703320" cy="960120"/>
          </a:xfrm>
          <a:prstGeom prst="rect">
            <a:avLst/>
          </a:prstGeom>
          <a:solidFill>
            <a:srgbClr val="F8F7F2"/>
          </a:solidFill>
          <a:ln w="635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2313432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0F2540"/>
                </a:solidFill>
                <a:latin typeface="Calibri"/>
              </a:defRPr>
            </a:pPr>
            <a:r>
              <a:t>GradCV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60604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 i="0">
                <a:solidFill>
                  <a:srgbClr val="1A1A1A"/>
                </a:solidFill>
                <a:latin typeface="Cambria Math"/>
              </a:defRPr>
            </a:pPr>
            <a:r>
              <a:t>std / mean of |gradient|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898648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 i="1">
                <a:solidFill>
                  <a:srgbClr val="7A7A7A"/>
                </a:solidFill>
                <a:latin typeface="Calibri"/>
              </a:defRPr>
            </a:pPr>
            <a:r>
              <a:t>high → unstable, hard-to-tune updates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1">
                <a:solidFill>
                  <a:srgbClr val="7A7A7A"/>
                </a:solidFill>
                <a:latin typeface="Calibri"/>
              </a:defRPr>
            </a:pPr>
            <a:r>
              <a:t>Stress-test metrics at epoch 100 — CIFAR-100, ResNet-19, τ=2.0 frozen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03320"/>
            <a:ext cx="5532120" cy="384048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58183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E0B85F"/>
                </a:solidFill>
                <a:latin typeface="Calibri"/>
              </a:defRPr>
            </a:pPr>
            <a:r>
              <a:t>V_thr = 0.1   (small threshold)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4087368"/>
          <a:ext cx="553212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71600"/>
                <a:gridCol w="1417320"/>
                <a:gridCol w="1417320"/>
              </a:tblGrid>
              <a:tr h="411480">
                <a:tc>
                  <a:txBody>
                    <a:bodyPr anchor="ctr"/>
                    <a:lstStyle/>
                    <a:p>
                      <a:pPr algn="l">
                        <a:defRPr sz="1100" b="1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SG</a:t>
                      </a:r>
                    </a:p>
                  </a:txBody>
                  <a:tcPr marL="109728" marR="109728">
                    <a:solidFill>
                      <a:srgbClr val="E5F5F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AbsStr</a:t>
                      </a:r>
                    </a:p>
                  </a:txBody>
                  <a:tcPr marL="109728" marR="109728">
                    <a:solidFill>
                      <a:srgbClr val="E5F5F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RatioAG</a:t>
                      </a:r>
                    </a:p>
                  </a:txBody>
                  <a:tcPr marL="109728" marR="109728">
                    <a:solidFill>
                      <a:srgbClr val="E5F5F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GradCV</a:t>
                      </a:r>
                    </a:p>
                  </a:txBody>
                  <a:tcPr marL="109728" marR="109728">
                    <a:solidFill>
                      <a:srgbClr val="E5F5F0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defRPr b="1" sz="1300">
                          <a:solidFill>
                            <a:srgbClr val="E56945"/>
                          </a:solidFill>
                          <a:latin typeface="Calibri"/>
                        </a:defRPr>
                      </a:pPr>
                      <a:r>
                        <a:t>AS-SG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300">
                          <a:solidFill>
                            <a:srgbClr val="E56945"/>
                          </a:solidFill>
                          <a:latin typeface="Consolas"/>
                        </a:defRPr>
                      </a:pPr>
                      <a:r>
                        <a:t>0.0145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300">
                          <a:solidFill>
                            <a:srgbClr val="E56945"/>
                          </a:solidFill>
                          <a:latin typeface="Consolas"/>
                        </a:defRPr>
                      </a:pPr>
                      <a:r>
                        <a:t>90.20%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300">
                          <a:solidFill>
                            <a:srgbClr val="E56945"/>
                          </a:solidFill>
                          <a:latin typeface="Consolas"/>
                        </a:defRPr>
                      </a:pPr>
                      <a:r>
                        <a:t>1.22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defRPr b="1" sz="1300">
                          <a:solidFill>
                            <a:srgbClr val="E56945"/>
                          </a:solidFill>
                          <a:latin typeface="Calibri"/>
                        </a:defRPr>
                      </a:pPr>
                      <a:r>
                        <a:t>RS-SG</a:t>
                      </a:r>
                    </a:p>
                  </a:txBody>
                  <a:tcPr marL="109728" marR="109728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300">
                          <a:solidFill>
                            <a:srgbClr val="E56945"/>
                          </a:solidFill>
                          <a:latin typeface="Consolas"/>
                        </a:defRPr>
                      </a:pPr>
                      <a:r>
                        <a:t>NaN</a:t>
                      </a:r>
                    </a:p>
                  </a:txBody>
                  <a:tcPr marL="109728" marR="109728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300">
                          <a:solidFill>
                            <a:srgbClr val="E56945"/>
                          </a:solidFill>
                          <a:latin typeface="Consolas"/>
                        </a:defRPr>
                      </a:pPr>
                      <a:r>
                        <a:t>0.00%</a:t>
                      </a:r>
                    </a:p>
                  </a:txBody>
                  <a:tcPr marL="109728" marR="109728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300">
                          <a:solidFill>
                            <a:srgbClr val="E56945"/>
                          </a:solidFill>
                          <a:latin typeface="Consolas"/>
                        </a:defRPr>
                      </a:pPr>
                      <a:r>
                        <a:t>NaN</a:t>
                      </a:r>
                    </a:p>
                  </a:txBody>
                  <a:tcPr marL="109728" marR="109728">
                    <a:solidFill>
                      <a:srgbClr val="F8F7F2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defRPr b="1" sz="1300">
                          <a:solidFill>
                            <a:srgbClr val="1D7E7E"/>
                          </a:solidFill>
                          <a:latin typeface="Calibri"/>
                        </a:defRPr>
                      </a:pPr>
                      <a:r>
                        <a:t>TrSG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300">
                          <a:solidFill>
                            <a:srgbClr val="1D7E7E"/>
                          </a:solidFill>
                          <a:latin typeface="Consolas"/>
                        </a:defRPr>
                      </a:pPr>
                      <a:r>
                        <a:t>0.0153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300">
                          <a:solidFill>
                            <a:srgbClr val="1D7E7E"/>
                          </a:solidFill>
                          <a:latin typeface="Consolas"/>
                        </a:defRPr>
                      </a:pPr>
                      <a:r>
                        <a:t>21.45%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300">
                          <a:solidFill>
                            <a:srgbClr val="1D7E7E"/>
                          </a:solidFill>
                          <a:latin typeface="Consolas"/>
                        </a:defRPr>
                      </a:pPr>
                      <a:r>
                        <a:t>0.87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6199632" y="3703320"/>
            <a:ext cx="5532120" cy="384048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758183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E0B85F"/>
                </a:solidFill>
                <a:latin typeface="Calibri"/>
              </a:defRPr>
            </a:pPr>
            <a:r>
              <a:t>V_thr = 2.0   (large threshold)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99632" y="4087368"/>
          <a:ext cx="553212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71600"/>
                <a:gridCol w="1417320"/>
                <a:gridCol w="1417320"/>
              </a:tblGrid>
              <a:tr h="411480">
                <a:tc>
                  <a:txBody>
                    <a:bodyPr anchor="ctr"/>
                    <a:lstStyle/>
                    <a:p>
                      <a:pPr algn="l">
                        <a:defRPr sz="1100" b="1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SG</a:t>
                      </a:r>
                    </a:p>
                  </a:txBody>
                  <a:tcPr marL="109728" marR="109728">
                    <a:solidFill>
                      <a:srgbClr val="E5F5F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AbsStr</a:t>
                      </a:r>
                    </a:p>
                  </a:txBody>
                  <a:tcPr marL="109728" marR="109728">
                    <a:solidFill>
                      <a:srgbClr val="E5F5F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RatioAG</a:t>
                      </a:r>
                    </a:p>
                  </a:txBody>
                  <a:tcPr marL="109728" marR="109728">
                    <a:solidFill>
                      <a:srgbClr val="E5F5F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GradCV</a:t>
                      </a:r>
                    </a:p>
                  </a:txBody>
                  <a:tcPr marL="109728" marR="109728">
                    <a:solidFill>
                      <a:srgbClr val="E5F5F0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defRPr b="1" sz="1300">
                          <a:solidFill>
                            <a:srgbClr val="E56945"/>
                          </a:solidFill>
                          <a:latin typeface="Calibri"/>
                        </a:defRPr>
                      </a:pPr>
                      <a:r>
                        <a:t>AS-SG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300">
                          <a:solidFill>
                            <a:srgbClr val="E56945"/>
                          </a:solidFill>
                          <a:latin typeface="Consolas"/>
                        </a:defRPr>
                      </a:pPr>
                      <a:r>
                        <a:t>0.0000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300">
                          <a:solidFill>
                            <a:srgbClr val="E56945"/>
                          </a:solidFill>
                          <a:latin typeface="Consolas"/>
                        </a:defRPr>
                      </a:pPr>
                      <a:r>
                        <a:t>0.00%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300">
                          <a:solidFill>
                            <a:srgbClr val="E56945"/>
                          </a:solidFill>
                          <a:latin typeface="Consolas"/>
                        </a:defRPr>
                      </a:pPr>
                      <a:r>
                        <a:t>0.000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defRPr b="1" sz="1300">
                          <a:solidFill>
                            <a:srgbClr val="E56945"/>
                          </a:solidFill>
                          <a:latin typeface="Calibri"/>
                        </a:defRPr>
                      </a:pPr>
                      <a:r>
                        <a:t>RS-SG</a:t>
                      </a:r>
                    </a:p>
                  </a:txBody>
                  <a:tcPr marL="109728" marR="109728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300">
                          <a:solidFill>
                            <a:srgbClr val="E56945"/>
                          </a:solidFill>
                          <a:latin typeface="Consolas"/>
                        </a:defRPr>
                      </a:pPr>
                      <a:r>
                        <a:t>0.0021</a:t>
                      </a:r>
                    </a:p>
                  </a:txBody>
                  <a:tcPr marL="109728" marR="109728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300">
                          <a:solidFill>
                            <a:srgbClr val="E56945"/>
                          </a:solidFill>
                          <a:latin typeface="Consolas"/>
                        </a:defRPr>
                      </a:pPr>
                      <a:r>
                        <a:t>0.10%</a:t>
                      </a:r>
                    </a:p>
                  </a:txBody>
                  <a:tcPr marL="109728" marR="109728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300">
                          <a:solidFill>
                            <a:srgbClr val="E56945"/>
                          </a:solidFill>
                          <a:latin typeface="Consolas"/>
                        </a:defRPr>
                      </a:pPr>
                      <a:r>
                        <a:t>2.25</a:t>
                      </a:r>
                    </a:p>
                  </a:txBody>
                  <a:tcPr marL="109728" marR="109728">
                    <a:solidFill>
                      <a:srgbClr val="F8F7F2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 algn="l">
                        <a:defRPr b="1" sz="1300">
                          <a:solidFill>
                            <a:srgbClr val="1D7E7E"/>
                          </a:solidFill>
                          <a:latin typeface="Calibri"/>
                        </a:defRPr>
                      </a:pPr>
                      <a:r>
                        <a:t>TrSG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300">
                          <a:solidFill>
                            <a:srgbClr val="1D7E7E"/>
                          </a:solidFill>
                          <a:latin typeface="Consolas"/>
                        </a:defRPr>
                      </a:pPr>
                      <a:r>
                        <a:t>0.0323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300">
                          <a:solidFill>
                            <a:srgbClr val="1D7E7E"/>
                          </a:solidFill>
                          <a:latin typeface="Consolas"/>
                        </a:defRPr>
                      </a:pPr>
                      <a:r>
                        <a:t>6.90%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300">
                          <a:solidFill>
                            <a:srgbClr val="1D7E7E"/>
                          </a:solidFill>
                          <a:latin typeface="Consolas"/>
                        </a:defRPr>
                      </a:pPr>
                      <a:r>
                        <a:t>0.73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457200" y="5989320"/>
            <a:ext cx="54864" cy="411480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" y="5989320"/>
            <a:ext cx="11192256" cy="41148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603504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E0B85F"/>
                </a:solidFill>
                <a:latin typeface="Calibri"/>
              </a:defRPr>
            </a:pPr>
            <a:r>
              <a:t>TrSG keeps all three metrics in the healthy range — at every threshold.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Defense — Hyunho Kook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1D7E7E"/>
                </a:solidFill>
                <a:latin typeface="Calibri"/>
              </a:defRPr>
            </a:pPr>
            <a:r>
              <a:rPr spc="300"/>
              <a:t>PART II · TRSG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TrSG Robust Across All V_thr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1">
                <a:solidFill>
                  <a:srgbClr val="7A7A7A"/>
                </a:solidFill>
                <a:latin typeface="Calibri"/>
              </a:defRPr>
            </a:pPr>
            <a:r>
              <a:t>Direct accuracy evidence  +  real trainings actually visit the extreme regimes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0F2540"/>
                </a:solidFill>
                <a:latin typeface="Calibri"/>
              </a:defRPr>
            </a:pPr>
            <a:r>
              <a:t>Accuracy with V_thr frozen at varying values</a:t>
            </a:r>
          </a:p>
        </p:txBody>
      </p:sp>
      <p:pic>
        <p:nvPicPr>
          <p:cNvPr id="6" name="Picture 5" descr="no_training_a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0"/>
            <a:ext cx="6126480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07492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0" i="1">
                <a:solidFill>
                  <a:srgbClr val="7A7A7A"/>
                </a:solidFill>
                <a:latin typeface="Calibri"/>
              </a:defRPr>
            </a:pPr>
            <a:r>
              <a:t>CIFAR-100, ResNet-19, τ=2.0 frozen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194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0F2540"/>
                </a:solidFill>
                <a:latin typeface="Calibri"/>
              </a:defRPr>
            </a:pPr>
            <a:r>
              <a:t>Trainable V_thr trajectories — ImageNet</a:t>
            </a:r>
          </a:p>
        </p:txBody>
      </p:sp>
      <p:pic>
        <p:nvPicPr>
          <p:cNvPr id="9" name="Picture 8" descr="threshold_training_image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560320"/>
            <a:ext cx="5029200" cy="246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66560" y="5074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0" i="1">
                <a:solidFill>
                  <a:srgbClr val="7A7A7A"/>
                </a:solidFill>
                <a:latin typeface="Calibri"/>
              </a:defRPr>
            </a:pPr>
            <a:r>
              <a:t>ResNet-34 on ImageNet · 120 epochs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492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1A"/>
                </a:solidFill>
                <a:latin typeface="Calibri"/>
              </a:defRPr>
            </a:pPr>
            <a:r>
              <a:t>▸  Frozen V_thr accuracy:  TrSG wins at every threshold; AS-SG/RS-SG fail outside V_thr ≈ 1</a:t>
            </a:r>
          </a:p>
          <a:p>
            <a:pPr>
              <a:spcBef>
                <a:spcPts val="600"/>
              </a:spcBef>
              <a:defRPr sz="1200">
                <a:solidFill>
                  <a:srgbClr val="1A1A1A"/>
                </a:solidFill>
                <a:latin typeface="Calibri"/>
              </a:defRPr>
            </a:pPr>
            <a:r>
              <a:t>▸  Real trainings drift V_thr ≪ 1 in early layers and ≫ 1 in deep layers — exactly the failure regimes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080760"/>
            <a:ext cx="54864" cy="365760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" y="6080760"/>
            <a:ext cx="11192256" cy="36576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6126480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E0B85F"/>
                </a:solidFill>
                <a:latin typeface="Calibri"/>
              </a:defRPr>
            </a:pPr>
            <a:r>
              <a:t>Threshold-robustness is a practical necessity, not a theoretical edge case.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Defense — Hyunho Kook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1D7E7E"/>
                </a:solidFill>
                <a:latin typeface="Calibri"/>
              </a:defRPr>
            </a:pPr>
            <a:r>
              <a:rPr spc="300"/>
              <a:t>EXPERIMENTS ·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Main Results — SOTA Across the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1">
                <a:solidFill>
                  <a:srgbClr val="7A7A7A"/>
                </a:solidFill>
                <a:latin typeface="Calibri"/>
              </a:defRPr>
            </a:pPr>
            <a:r>
              <a:t>Standard LIF neurons · no AutoAugment / Cutout · three trials</a:t>
            </a:r>
          </a:p>
        </p:txBody>
      </p:sp>
      <p:pic>
        <p:nvPicPr>
          <p:cNvPr id="5" name="Picture 4" descr="main_results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94560"/>
            <a:ext cx="7772400" cy="32466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2194560"/>
            <a:ext cx="3657600" cy="1280160"/>
          </a:xfrm>
          <a:prstGeom prst="rect">
            <a:avLst/>
          </a:prstGeom>
          <a:solidFill>
            <a:srgbClr val="F8F7F2"/>
          </a:solidFill>
          <a:ln w="22860">
            <a:solidFill>
              <a:srgbClr val="1D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3774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 i="0">
                <a:solidFill>
                  <a:srgbClr val="1D7E7E"/>
                </a:solidFill>
                <a:latin typeface="Cambria"/>
              </a:defRPr>
            </a:pPr>
            <a:r>
              <a:t>+1.09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248716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 i="0">
                <a:solidFill>
                  <a:srgbClr val="1D7E7E"/>
                </a:solidFill>
                <a:latin typeface="Calibri"/>
              </a:defRPr>
            </a:pPr>
            <a:r>
              <a:t>%pt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9718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1A1A1A"/>
                </a:solidFill>
                <a:latin typeface="Calibri"/>
              </a:defRPr>
            </a:pPr>
            <a:r>
              <a:t>CIFAR-100  ·  beats TAB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3611880"/>
            <a:ext cx="3657600" cy="1280160"/>
          </a:xfrm>
          <a:prstGeom prst="rect">
            <a:avLst/>
          </a:prstGeom>
          <a:solidFill>
            <a:srgbClr val="F8F7F2"/>
          </a:solidFill>
          <a:ln w="22860">
            <a:solidFill>
              <a:srgbClr val="1D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37947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 i="0">
                <a:solidFill>
                  <a:srgbClr val="1D7E7E"/>
                </a:solidFill>
                <a:latin typeface="Cambria"/>
              </a:defRPr>
            </a:pPr>
            <a:r>
              <a:t>+0.64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390448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 i="0">
                <a:solidFill>
                  <a:srgbClr val="1D7E7E"/>
                </a:solidFill>
                <a:latin typeface="Calibri"/>
              </a:defRPr>
            </a:pPr>
            <a:r>
              <a:t>%pt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3891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1A1A1A"/>
                </a:solidFill>
                <a:latin typeface="Calibri"/>
              </a:defRPr>
            </a:pPr>
            <a:r>
              <a:t>ImageNet  ·  beats MPS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5029200"/>
            <a:ext cx="3657600" cy="1280160"/>
          </a:xfrm>
          <a:prstGeom prst="rect">
            <a:avLst/>
          </a:prstGeom>
          <a:solidFill>
            <a:srgbClr val="F8F7F2"/>
          </a:solidFill>
          <a:ln w="22860">
            <a:solidFill>
              <a:srgbClr val="E0B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52120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 i="0">
                <a:solidFill>
                  <a:srgbClr val="E0B85F"/>
                </a:solidFill>
                <a:latin typeface="Cambria"/>
              </a:defRPr>
            </a:pPr>
            <a:r>
              <a:t>+5.23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532180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0" i="0">
                <a:solidFill>
                  <a:srgbClr val="E0B85F"/>
                </a:solidFill>
                <a:latin typeface="Calibri"/>
              </a:defRPr>
            </a:pPr>
            <a:r>
              <a:t>%pt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80644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1A1A1A"/>
                </a:solidFill>
                <a:latin typeface="Calibri"/>
              </a:defRPr>
            </a:pPr>
            <a:r>
              <a:t>DVS-CIFAR10  ·  beats RMP-Loss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126480"/>
            <a:ext cx="54864" cy="365760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" y="6126480"/>
            <a:ext cx="11192256" cy="36576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172200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E0B85F"/>
                </a:solidFill>
                <a:latin typeface="Calibri"/>
              </a:defRPr>
            </a:pPr>
            <a:r>
              <a:t>Biggest gain on the most challenging (event-based) dataset — DVS-CIFAR10 +5.23 %pt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Defense — Hyunho Kook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1D7E7E"/>
                </a:solidFill>
                <a:latin typeface="Calibri"/>
              </a:defRPr>
            </a:pPr>
            <a:r>
              <a:rPr spc="300"/>
              <a:t>EXPERIMENTS ·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Ablation — Independent and Complementary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1">
                <a:solidFill>
                  <a:srgbClr val="7A7A7A"/>
                </a:solidFill>
                <a:latin typeface="Calibri"/>
              </a:defRPr>
            </a:pPr>
            <a:r>
              <a:t>Each method helps alone; gains stack additively (largest combined effect on event-based data)</a:t>
            </a:r>
          </a:p>
        </p:txBody>
      </p:sp>
      <p:pic>
        <p:nvPicPr>
          <p:cNvPr id="5" name="Picture 4" descr="ablation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40280"/>
            <a:ext cx="9144000" cy="38196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75520" y="22860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0F2540"/>
                </a:solidFill>
                <a:latin typeface="Calibri"/>
              </a:defRPr>
            </a:pPr>
            <a:r>
              <a:t>Takeaway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2697480"/>
            <a:ext cx="2286000" cy="914400"/>
          </a:xfrm>
          <a:prstGeom prst="rect">
            <a:avLst/>
          </a:prstGeom>
          <a:solidFill>
            <a:srgbClr val="F8F7F2"/>
          </a:solidFill>
          <a:ln w="16510">
            <a:solidFill>
              <a:srgbClr val="1D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278892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0F2540"/>
                </a:solidFill>
                <a:latin typeface="Calibri"/>
              </a:defRPr>
            </a:pPr>
            <a:r>
              <a:t>MP-Init 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308152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 i="0">
                <a:solidFill>
                  <a:srgbClr val="1D7E7E"/>
                </a:solidFill>
                <a:latin typeface="Cambria"/>
              </a:defRPr>
            </a:pPr>
            <a:r>
              <a:t>+0.5 ~ 0.8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3703320"/>
            <a:ext cx="2286000" cy="914400"/>
          </a:xfrm>
          <a:prstGeom prst="rect">
            <a:avLst/>
          </a:prstGeom>
          <a:solidFill>
            <a:srgbClr val="F8F7F2"/>
          </a:solidFill>
          <a:ln w="16510">
            <a:solidFill>
              <a:srgbClr val="E0B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29800" y="3794759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0F2540"/>
                </a:solidFill>
                <a:latin typeface="Calibri"/>
              </a:defRPr>
            </a:pPr>
            <a:r>
              <a:t>TrSG 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408736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 i="0">
                <a:solidFill>
                  <a:srgbClr val="E0B85F"/>
                </a:solidFill>
                <a:latin typeface="Cambria"/>
              </a:defRPr>
            </a:pPr>
            <a:r>
              <a:t>+1.6 ~ 4.2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4709160"/>
            <a:ext cx="2286000" cy="914400"/>
          </a:xfrm>
          <a:prstGeom prst="rect">
            <a:avLst/>
          </a:prstGeom>
          <a:solidFill>
            <a:srgbClr val="F8F7F2"/>
          </a:solidFill>
          <a:ln w="16510">
            <a:solidFill>
              <a:srgbClr val="0E5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29800" y="480060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0F2540"/>
                </a:solidFill>
                <a:latin typeface="Calibri"/>
              </a:defRPr>
            </a:pPr>
            <a:r>
              <a:t>Both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509320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 i="0">
                <a:solidFill>
                  <a:srgbClr val="0E5E5E"/>
                </a:solidFill>
                <a:latin typeface="Cambria"/>
              </a:defRPr>
            </a:pPr>
            <a:r>
              <a:t>+2.1 ~ 4.8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89320"/>
            <a:ext cx="54864" cy="502920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" y="5989320"/>
            <a:ext cx="11192256" cy="502920"/>
          </a:xfrm>
          <a:prstGeom prst="rect">
            <a:avLst/>
          </a:prstGeom>
          <a:solidFill>
            <a:srgbClr val="1D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3504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two fixes are orthogonal — diagnoses aim at different components, not the same problem twice.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Defense — Hyunho Kook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1D7E7E"/>
                </a:solidFill>
                <a:latin typeface="Calibri"/>
              </a:defRPr>
            </a:pPr>
            <a:r>
              <a:rPr spc="300"/>
              <a:t>EXPERIMENTS ·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Beyond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1">
                <a:solidFill>
                  <a:srgbClr val="7A7A7A"/>
                </a:solidFill>
                <a:latin typeface="Calibri"/>
              </a:defRPr>
            </a:pPr>
            <a:r>
              <a:t>Transformer SNNs · object detection · energy preserved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5486400" cy="1417320"/>
          </a:xfrm>
          <a:prstGeom prst="rect">
            <a:avLst/>
          </a:prstGeom>
          <a:solidFill>
            <a:srgbClr val="F8F7F2"/>
          </a:solidFill>
          <a:ln w="15240">
            <a:solidFill>
              <a:srgbClr val="1D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1D7E7E"/>
                </a:solidFill>
                <a:latin typeface="Calibri"/>
              </a:defRPr>
            </a:pPr>
            <a:r>
              <a:t>Transformer SNN  (QKFormer, ImageNet, T=4)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Baseline 78.80    →    + ours 79.90    (+1.10 %pt)</a:t>
            </a:r>
            <a:br/>
            <a:r>
              <a:t>AS-SG    77.09    →    RS-SG  78.70    →    TrSG  79.90</a:t>
            </a:r>
            <a:br/>
            <a:r>
              <a:t>Drop-in SG swap on a state-of-the-art Transformer SNN.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286000"/>
            <a:ext cx="5486400" cy="1417320"/>
          </a:xfrm>
          <a:prstGeom prst="rect">
            <a:avLst/>
          </a:prstGeom>
          <a:solidFill>
            <a:srgbClr val="F8F7F2"/>
          </a:solidFill>
          <a:ln w="15240">
            <a:solidFill>
              <a:srgbClr val="1D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423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1D7E7E"/>
                </a:solidFill>
                <a:latin typeface="Calibri"/>
              </a:defRPr>
            </a:pPr>
            <a:r>
              <a:t>Object detection  (COCO-2017, EMS-ResNet10, T=3)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78892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mAP@0.5         0.291  →  0.305    (+0.014)</a:t>
            </a:r>
            <a:br/>
            <a:r>
              <a:t>mAP@0.5:0.95    0.138  →  0.147    (+0.009)</a:t>
            </a:r>
            <a:br/>
            <a:r>
              <a:t>First evidence the principles transfer beyond classification.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5486400" cy="1508760"/>
          </a:xfrm>
          <a:prstGeom prst="rect">
            <a:avLst/>
          </a:prstGeom>
          <a:solidFill>
            <a:srgbClr val="F8F7F2"/>
          </a:solidFill>
          <a:ln w="15240">
            <a:solidFill>
              <a:srgbClr val="1D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1D7E7E"/>
                </a:solidFill>
                <a:latin typeface="Calibri"/>
              </a:defRPr>
            </a:pPr>
            <a:r>
              <a:t>Energy under matched configuration  (CIFAR-100)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Baseline   1.57 mJ   ·   75.58 %</a:t>
            </a:r>
            <a:br/>
            <a:r>
              <a:t>+ MP-Init + TrSG    1.67 mJ   ·   77.68 %</a:t>
            </a:r>
            <a:br/>
            <a:r>
              <a:t>+2.10 %pt at +6 % energy → orders of magnitude better than</a:t>
            </a:r>
            <a:br/>
            <a:r>
              <a:t>spike-rate-multiplying baselines (cf. Pareto frontier on slide 9).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840480"/>
            <a:ext cx="5486400" cy="1508760"/>
          </a:xfrm>
          <a:prstGeom prst="rect">
            <a:avLst/>
          </a:prstGeom>
          <a:solidFill>
            <a:srgbClr val="F8F7F2"/>
          </a:solidFill>
          <a:ln w="15240">
            <a:solidFill>
              <a:srgbClr val="1D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1D7E7E"/>
                </a:solidFill>
                <a:latin typeface="Calibri"/>
              </a:defRPr>
            </a:pPr>
            <a:r>
              <a:t>All four surrogate shapes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343400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Rectangular · Triangular · Arctan · Sigmoid</a:t>
            </a:r>
            <a:br/>
            <a:r>
              <a:t>TrSG remains the best across initial V_thr, initial τ,</a:t>
            </a:r>
            <a:br/>
            <a:r>
              <a:t>and surrogate shape — never tied for second.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77840"/>
            <a:ext cx="54864" cy="685800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" y="5577840"/>
            <a:ext cx="11192256" cy="6858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623559"/>
            <a:ext cx="10789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E0B85F"/>
                </a:solidFill>
                <a:latin typeface="Calibri"/>
              </a:defRPr>
            </a:pPr>
            <a:r>
              <a:t>No architectural changes, no extra losses, no per-timestep parameters — just drop 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Defense — Hyunho Kook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1D7E7E"/>
                </a:solidFill>
                <a:latin typeface="Calibri"/>
              </a:defRPr>
            </a:pPr>
            <a:r>
              <a:rPr spc="3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What This Talk Was About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94560"/>
            <a:ext cx="54864" cy="914400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" y="2194560"/>
            <a:ext cx="11192256" cy="91440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40279"/>
            <a:ext cx="10789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E0B85F"/>
                </a:solidFill>
                <a:latin typeface="Calibri"/>
              </a:defRPr>
            </a:pPr>
            <a:r>
              <a:t>Two long-standing instabilities of direct SNN training, traced and fixed.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Both fixes are minimal, principled, and preserve standard inference.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83280"/>
            <a:ext cx="3657600" cy="2743200"/>
          </a:xfrm>
          <a:prstGeom prst="rect">
            <a:avLst/>
          </a:prstGeom>
          <a:solidFill>
            <a:srgbClr val="F8F7F2"/>
          </a:solidFill>
          <a:ln w="19050">
            <a:solidFill>
              <a:srgbClr val="1D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 i="0">
                <a:solidFill>
                  <a:srgbClr val="1D7E7E"/>
                </a:solidFill>
                <a:latin typeface="Cambria"/>
              </a:defRPr>
            </a:pPr>
            <a:r>
              <a:t>MP-Init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TCS originates in the membrane potential — fix the initial state.</a:t>
            </a:r>
            <a:br/>
            <a:br/>
            <a:r>
              <a:t>Per-layer running mean of U[T].</a:t>
            </a:r>
            <a:br/>
            <a:br/>
            <a:r>
              <a:t>Zero overhead, standard LIF inference.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3383280"/>
            <a:ext cx="3657600" cy="2743200"/>
          </a:xfrm>
          <a:prstGeom prst="rect">
            <a:avLst/>
          </a:prstGeom>
          <a:solidFill>
            <a:srgbClr val="F8F7F2"/>
          </a:solidFill>
          <a:ln w="19050">
            <a:solidFill>
              <a:srgbClr val="E0B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35204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 i="0">
                <a:solidFill>
                  <a:srgbClr val="E0B85F"/>
                </a:solidFill>
                <a:latin typeface="Cambria"/>
              </a:defRPr>
            </a:pPr>
            <a:r>
              <a:t>TrSG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02336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Threshold-induced gradient pathology — fix it with one forward-path multiplication.</a:t>
            </a:r>
            <a:br/>
            <a:br/>
            <a:r>
              <a:t>Window adapts, magnitude is invariant.</a:t>
            </a:r>
            <a:br/>
            <a:br/>
            <a:r>
              <a:t>Standard LIF after training.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383280"/>
            <a:ext cx="3657600" cy="2743200"/>
          </a:xfrm>
          <a:prstGeom prst="rect">
            <a:avLst/>
          </a:prstGeom>
          <a:solidFill>
            <a:srgbClr val="F8F7F2"/>
          </a:solidFill>
          <a:ln w="19050">
            <a:solidFill>
              <a:srgbClr val="1D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5204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 i="0">
                <a:solidFill>
                  <a:srgbClr val="1D7E7E"/>
                </a:solidFill>
                <a:latin typeface="Cambria"/>
              </a:defRPr>
            </a:pPr>
            <a:r>
              <a:t>Validated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02336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SOTA on CIFAR-10/100, ImageNet, DVS-CIFAR10.</a:t>
            </a:r>
            <a:br/>
            <a:br/>
            <a:r>
              <a:t>Generalizes to Transformer SNNs (QKFormer +1.10) and detection (COCO +0.014 mAP).</a:t>
            </a:r>
            <a:br/>
            <a:br/>
            <a:r>
              <a:t>All without architectural changes.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Defense — Hyunho Kook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371600"/>
            <a:ext cx="3657600" cy="3657600"/>
          </a:xfrm>
          <a:prstGeom prst="ellipse">
            <a:avLst/>
          </a:prstGeom>
          <a:solidFill>
            <a:srgbClr val="09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5029200" cy="5029200"/>
          </a:xfrm>
          <a:prstGeom prst="ellipse">
            <a:avLst/>
          </a:prstGeom>
          <a:solidFill>
            <a:srgbClr val="09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E0B85F"/>
                </a:solidFill>
                <a:latin typeface="Calibri"/>
              </a:defRPr>
            </a:pPr>
            <a:r>
              <a:rPr spc="400"/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 i="0">
                <a:solidFill>
                  <a:srgbClr val="FFFFFF"/>
                </a:solidFill>
                <a:latin typeface="Cambria"/>
              </a:defRPr>
            </a:pPr>
            <a:r>
              <a:t>Two instabilities, two principled fixes,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 i="0">
                <a:solidFill>
                  <a:srgbClr val="E0B85F"/>
                </a:solidFill>
                <a:latin typeface="Cambria"/>
              </a:defRPr>
            </a:pPr>
            <a:r>
              <a:t>one cohesive 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E0B85F"/>
                </a:solidFill>
                <a:latin typeface="Calibri"/>
              </a:defRPr>
            </a:pPr>
            <a:r>
              <a:rPr spc="400"/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CBD8E0"/>
                </a:solidFill>
                <a:latin typeface="Calibri"/>
              </a:defRPr>
            </a:pPr>
            <a:r>
              <a:t>▸  Per-layer constant approximates π only at the mean — richer parameterizations are open.</a:t>
            </a:r>
            <a:br/>
            <a:r>
              <a:t>▸  Hardware with fixed neuron parameters needs quantization-aware adaptation.</a:t>
            </a:r>
            <a:br/>
            <a:r>
              <a:t>▸  i.i.d. assumption empirically supported, but tighter bounds welcome.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E0B85F"/>
                </a:solidFill>
                <a:latin typeface="Calibri"/>
              </a:defRPr>
            </a:pPr>
            <a:r>
              <a:rPr spc="400"/>
              <a:t>FUTURE 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94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CBD8E0"/>
                </a:solidFill>
                <a:latin typeface="Calibri"/>
              </a:defRPr>
            </a:pPr>
            <a:r>
              <a:t>▸  Hardware-aware adaptation:  Loihi, Akida, TrueNorth</a:t>
            </a:r>
            <a:br/>
            <a:r>
              <a:t>▸  Beyond LIF:  adaptive LIF, Izhikevich, foundation-scale SNNs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263640"/>
            <a:ext cx="914400" cy="36576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3733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 i="1">
                <a:solidFill>
                  <a:srgbClr val="E0B85F"/>
                </a:solidFill>
                <a:latin typeface="Cambria"/>
              </a:defRPr>
            </a:pPr>
            <a:r>
              <a:t>Thank you.   Questions?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8095A8"/>
                </a:solidFill>
                <a:latin typeface="Calibri"/>
              </a:defRPr>
            </a:pPr>
            <a:r>
              <a:t>21 /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09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09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E0B85F"/>
                </a:solidFill>
                <a:latin typeface="Calibri"/>
              </a:defRPr>
            </a:pPr>
            <a:r>
              <a:rPr spc="400"/>
              <a:t>BACKUP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0" b="1" i="0">
                <a:solidFill>
                  <a:srgbClr val="FFFFFF"/>
                </a:solidFill>
                <a:latin typeface="Cambria"/>
              </a:defRPr>
            </a:pPr>
            <a:r>
              <a:t>Appendix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03320"/>
            <a:ext cx="914400" cy="36576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 i="1">
                <a:solidFill>
                  <a:srgbClr val="E0B85F"/>
                </a:solidFill>
                <a:latin typeface="Cambria"/>
              </a:defRPr>
            </a:pPr>
            <a:r>
              <a:t>Q&amp;A reference: hardware, datasets, prior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E0B85F"/>
                </a:solidFill>
                <a:latin typeface="Calibri"/>
              </a:defRPr>
            </a:pPr>
            <a:r>
              <a:t>A1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57200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CBD8E0"/>
                </a:solidFill>
                <a:latin typeface="Calibri"/>
              </a:defRPr>
            </a:pPr>
            <a:r>
              <a:t>Can SNNs run on real chips?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E0B85F"/>
                </a:solidFill>
                <a:latin typeface="Calibri"/>
              </a:defRPr>
            </a:pPr>
            <a:r>
              <a:t>A2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3776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CBD8E0"/>
                </a:solidFill>
                <a:latin typeface="Calibri"/>
              </a:defRPr>
            </a:pPr>
            <a:r>
              <a:t>Where SNN efficiency comes 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E0B85F"/>
                </a:solidFill>
                <a:latin typeface="Calibri"/>
              </a:defRPr>
            </a:pPr>
            <a:r>
              <a:t>A3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30352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CBD8E0"/>
                </a:solidFill>
                <a:latin typeface="Calibri"/>
              </a:defRPr>
            </a:pPr>
            <a:r>
              <a:t>Energy: SNN chip vs DNN platforms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E0B85F"/>
                </a:solidFill>
                <a:latin typeface="Calibri"/>
              </a:defRPr>
            </a:pPr>
            <a:r>
              <a:t>A4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66928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CBD8E0"/>
                </a:solidFill>
                <a:latin typeface="Calibri"/>
              </a:defRPr>
            </a:pPr>
            <a:r>
              <a:t>What is an event-based dataset?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7200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E0B85F"/>
                </a:solidFill>
                <a:latin typeface="Calibri"/>
              </a:defRPr>
            </a:pPr>
            <a:r>
              <a:t>A5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57200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CBD8E0"/>
                </a:solidFill>
                <a:latin typeface="Calibri"/>
              </a:defRPr>
            </a:pPr>
            <a:r>
              <a:t>From DVS events to SNN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93776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E0B85F"/>
                </a:solidFill>
                <a:latin typeface="Calibri"/>
              </a:defRPr>
            </a:pPr>
            <a:r>
              <a:t>A6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93776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CBD8E0"/>
                </a:solidFill>
                <a:latin typeface="Calibri"/>
              </a:defRPr>
            </a:pPr>
            <a:r>
              <a:t>How were SNNs trained before?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30352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E0B85F"/>
                </a:solidFill>
                <a:latin typeface="Calibri"/>
              </a:defRPr>
            </a:pPr>
            <a:r>
              <a:t>A7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530352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CBD8E0"/>
                </a:solidFill>
                <a:latin typeface="Calibri"/>
              </a:defRPr>
            </a:pPr>
            <a:r>
              <a:t>Prior work on TCS &amp; threshold learning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66928"/>
            <a:ext cx="54864" cy="201168"/>
          </a:xfrm>
          <a:prstGeom prst="rect">
            <a:avLst/>
          </a:prstGeom>
          <a:solidFill>
            <a:srgbClr val="E56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 i="0">
                <a:solidFill>
                  <a:srgbClr val="E56945"/>
                </a:solidFill>
                <a:latin typeface="Calibri"/>
              </a:defRPr>
            </a:pPr>
            <a:r>
              <a:rPr spc="400"/>
              <a:t>APPENDIX · 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Can SNNs Actually Run on Chips?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1">
                <a:solidFill>
                  <a:srgbClr val="7A7A7A"/>
                </a:solidFill>
                <a:latin typeface="Calibri"/>
              </a:defRPr>
            </a:pPr>
            <a:r>
              <a:t>Production-grade neuromorphic silicon already exists.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 i="0">
                <a:solidFill>
                  <a:srgbClr val="0F2540"/>
                </a:solidFill>
                <a:latin typeface="Calibri"/>
              </a:defRPr>
            </a:pPr>
            <a:r>
              <a:t>Yes — and at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3749039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0" i="0">
                <a:solidFill>
                  <a:srgbClr val="1A1A1A"/>
                </a:solidFill>
                <a:latin typeface="Calibri"/>
              </a:defRPr>
            </a:pPr>
            <a:r>
              <a:t>Several research and commercial chips natively run spiking models. Our methods (MP-Init, TrSG) are training-time techniques that produce the same LIF model these chips already accept — so the trained network ports directly without architectural changes.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120640"/>
            <a:ext cx="54864" cy="1188720"/>
          </a:xfrm>
          <a:prstGeom prst="rect">
            <a:avLst/>
          </a:prstGeom>
          <a:solidFill>
            <a:srgbClr val="1D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" y="5120640"/>
            <a:ext cx="3694176" cy="1188720"/>
          </a:xfrm>
          <a:prstGeom prst="rect">
            <a:avLst/>
          </a:prstGeom>
          <a:solidFill>
            <a:srgbClr val="E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66359"/>
            <a:ext cx="3291839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1D7E7E"/>
                </a:solidFill>
                <a:latin typeface="Calibri"/>
              </a:defRPr>
            </a:pPr>
            <a:r>
              <a:t>Key takeaway</a:t>
            </a:r>
          </a:p>
          <a:p>
            <a:pPr>
              <a:spcBef>
                <a:spcPts val="600"/>
              </a:spcBef>
              <a:defRPr sz="1100">
                <a:solidFill>
                  <a:srgbClr val="1A1A1A"/>
                </a:solidFill>
                <a:latin typeface="Calibri"/>
              </a:defRPr>
            </a:pPr>
            <a:r>
              <a:t>Hardware is here. The bottleneck is training quality at low T.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26280" y="2194560"/>
          <a:ext cx="731520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640080"/>
                <a:gridCol w="960120"/>
                <a:gridCol w="1783080"/>
                <a:gridCol w="2148840"/>
              </a:tblGrid>
              <a:tr h="457200">
                <a:tc>
                  <a:txBody>
                    <a:bodyPr anchor="ctr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Chip</a:t>
                      </a:r>
                    </a:p>
                  </a:txBody>
                  <a:tcPr marL="91440" marR="91440">
                    <a:solidFill>
                      <a:srgbClr val="0F25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</a:t>
                      </a:r>
                    </a:p>
                  </a:txBody>
                  <a:tcPr marL="91440" marR="91440">
                    <a:solidFill>
                      <a:srgbClr val="0F25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Process</a:t>
                      </a:r>
                    </a:p>
                  </a:txBody>
                  <a:tcPr marL="91440" marR="91440">
                    <a:solidFill>
                      <a:srgbClr val="0F25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Capacity</a:t>
                      </a:r>
                    </a:p>
                  </a:txBody>
                  <a:tcPr marL="91440" marR="91440">
                    <a:solidFill>
                      <a:srgbClr val="0F25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Headline metric</a:t>
                      </a:r>
                    </a:p>
                  </a:txBody>
                  <a:tcPr marL="91440" marR="91440">
                    <a:solidFill>
                      <a:srgbClr val="0F2540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defRPr b="1" sz="1150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IBM TrueNorth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2014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65 nm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 M neur.</a:t>
                      </a:r>
                    </a:p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256 M syn.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70 mW · 26 pJ/event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defRPr b="1" sz="1150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Intel Loihi</a:t>
                      </a:r>
                    </a:p>
                  </a:txBody>
                  <a:tcPr marL="91440" marR="91440" marT="36576" marB="36576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2018</a:t>
                      </a:r>
                    </a:p>
                  </a:txBody>
                  <a:tcPr marL="91440" marR="91440" marT="36576" marB="36576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14 nm</a:t>
                      </a:r>
                    </a:p>
                  </a:txBody>
                  <a:tcPr marL="91440" marR="91440" marT="36576" marB="36576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130 K neur.</a:t>
                      </a:r>
                    </a:p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130 M syn.</a:t>
                      </a:r>
                    </a:p>
                  </a:txBody>
                  <a:tcPr marL="91440" marR="91440" marT="36576" marB="36576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23.6 pJ / op</a:t>
                      </a:r>
                    </a:p>
                  </a:txBody>
                  <a:tcPr marL="91440" marR="91440" marT="36576" marB="36576">
                    <a:solidFill>
                      <a:srgbClr val="F8F7F2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defRPr b="1" sz="1150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Intel Loihi 2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2021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Intel 4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 M neur.</a:t>
                      </a:r>
                    </a:p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graded spikes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improved · multi-bit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defRPr b="1" sz="1150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SpiNNaker 2</a:t>
                      </a:r>
                    </a:p>
                  </a:txBody>
                  <a:tcPr marL="91440" marR="91440" marT="36576" marB="36576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2024</a:t>
                      </a:r>
                    </a:p>
                  </a:txBody>
                  <a:tcPr marL="91440" marR="91440" marT="36576" marB="36576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22 nm</a:t>
                      </a:r>
                    </a:p>
                  </a:txBody>
                  <a:tcPr marL="91440" marR="91440" marT="36576" marB="36576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152 K neur.</a:t>
                      </a:r>
                    </a:p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152 M syn. / chip</a:t>
                      </a:r>
                    </a:p>
                  </a:txBody>
                  <a:tcPr marL="91440" marR="91440" marT="36576" marB="36576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ARM-based · digital</a:t>
                      </a:r>
                    </a:p>
                  </a:txBody>
                  <a:tcPr marL="91440" marR="91440" marT="36576" marB="36576">
                    <a:solidFill>
                      <a:srgbClr val="F8F7F2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defRPr b="1" sz="1150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Tianjic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2019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28 nm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40 K neur.</a:t>
                      </a:r>
                    </a:p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SNN+ANN hybrid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Tsinghua · hybrid arch.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defRPr b="1" sz="1150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Speck (SynSense)</a:t>
                      </a:r>
                    </a:p>
                  </a:txBody>
                  <a:tcPr marL="91440" marR="91440" marT="36576" marB="36576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2022</a:t>
                      </a:r>
                    </a:p>
                  </a:txBody>
                  <a:tcPr marL="91440" marR="91440" marT="36576" marB="36576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65 nm</a:t>
                      </a:r>
                    </a:p>
                  </a:txBody>
                  <a:tcPr marL="91440" marR="91440" marT="36576" marB="36576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328 K neur.</a:t>
                      </a:r>
                    </a:p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DVS on-chip</a:t>
                      </a:r>
                    </a:p>
                  </a:txBody>
                  <a:tcPr marL="91440" marR="91440" marT="36576" marB="36576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&lt; 10 mW · always-on</a:t>
                      </a:r>
                    </a:p>
                  </a:txBody>
                  <a:tcPr marL="91440" marR="91440" marT="36576" marB="36576">
                    <a:solidFill>
                      <a:srgbClr val="F8F7F2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defRPr b="1" sz="1150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BrainScaleS-2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2022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65 nm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512 analog neur.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1000× biological speed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26280" y="63550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1">
                <a:solidFill>
                  <a:srgbClr val="7A7A7A"/>
                </a:solidFill>
                <a:latin typeface="Calibri"/>
              </a:defRPr>
            </a:pPr>
            <a:r>
              <a:t>Refs: Merolla 2014 · Davies 2018 · Mayr 2019 · Pei 2019 · SynSense 2022 · BrainScaleS team 2022.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Appendix — Hyunho Kook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A1 / A7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66928"/>
            <a:ext cx="54864" cy="201168"/>
          </a:xfrm>
          <a:prstGeom prst="rect">
            <a:avLst/>
          </a:prstGeom>
          <a:solidFill>
            <a:srgbClr val="E56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 i="0">
                <a:solidFill>
                  <a:srgbClr val="E56945"/>
                </a:solidFill>
                <a:latin typeface="Calibri"/>
              </a:defRPr>
            </a:pPr>
            <a:r>
              <a:rPr spc="400"/>
              <a:t>APPENDIX ·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Where SNN Efficiency Comes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1">
                <a:solidFill>
                  <a:srgbClr val="7A7A7A"/>
                </a:solidFill>
                <a:latin typeface="Calibri"/>
              </a:defRPr>
            </a:pPr>
            <a:r>
              <a:t>Three structural advantages — none requires a new training scheme.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3703320" cy="2331720"/>
          </a:xfrm>
          <a:prstGeom prst="rect">
            <a:avLst/>
          </a:prstGeom>
          <a:solidFill>
            <a:srgbClr val="FFFFFF"/>
          </a:solidFill>
          <a:ln w="22860">
            <a:solidFill>
              <a:srgbClr val="1D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3703320" cy="91440"/>
          </a:xfrm>
          <a:prstGeom prst="rect">
            <a:avLst/>
          </a:prstGeom>
          <a:solidFill>
            <a:srgbClr val="1D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 i="0">
                <a:solidFill>
                  <a:srgbClr val="1D7E7E"/>
                </a:solidFill>
                <a:latin typeface="Calibri"/>
              </a:defRPr>
            </a:pPr>
            <a:r>
              <a:t>①  Event-driven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33375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No spike → no compute. Inactive neurons skip MAC and memory access entirely.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023359"/>
            <a:ext cx="3429000" cy="36576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78223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 i="0">
                <a:solidFill>
                  <a:srgbClr val="0F2540"/>
                </a:solidFill>
                <a:latin typeface="Consolas"/>
              </a:defRPr>
            </a:pPr>
            <a:r>
              <a:t>Typical activity:  5–20 % per timestep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2194560"/>
            <a:ext cx="3703320" cy="2331720"/>
          </a:xfrm>
          <a:prstGeom prst="rect">
            <a:avLst/>
          </a:prstGeom>
          <a:solidFill>
            <a:srgbClr val="FFFFFF"/>
          </a:solidFill>
          <a:ln w="22860">
            <a:solidFill>
              <a:srgbClr val="E0B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2544" y="2194560"/>
            <a:ext cx="3703320" cy="91440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24231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 i="0">
                <a:solidFill>
                  <a:srgbClr val="E0B85F"/>
                </a:solidFill>
                <a:latin typeface="Calibri"/>
              </a:defRPr>
            </a:pPr>
            <a:r>
              <a:t>②  Multiplication-free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880360"/>
            <a:ext cx="33375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Spike ∈ {0, 1} → W·spike degenerates to W or 0. Each synapse becomes an Accumulate (AC), not a MAC.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9704" y="4023359"/>
            <a:ext cx="3429000" cy="36576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4078223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 i="0">
                <a:solidFill>
                  <a:srgbClr val="0F2540"/>
                </a:solidFill>
                <a:latin typeface="Consolas"/>
              </a:defRPr>
            </a:pPr>
            <a:r>
              <a:t>INT8 AC ≈ 8× cheaper than INT8 MAC (45 nm)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47888" y="2194560"/>
            <a:ext cx="3703320" cy="2331720"/>
          </a:xfrm>
          <a:prstGeom prst="rect">
            <a:avLst/>
          </a:prstGeom>
          <a:solidFill>
            <a:srgbClr val="FFFFFF"/>
          </a:solidFill>
          <a:ln w="22860">
            <a:solidFill>
              <a:srgbClr val="E56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47888" y="2194560"/>
            <a:ext cx="3703320" cy="91440"/>
          </a:xfrm>
          <a:prstGeom prst="rect">
            <a:avLst/>
          </a:prstGeom>
          <a:solidFill>
            <a:srgbClr val="E56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7" y="242316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 i="0">
                <a:solidFill>
                  <a:srgbClr val="E56945"/>
                </a:solidFill>
                <a:latin typeface="Calibri"/>
              </a:defRPr>
            </a:pPr>
            <a:r>
              <a:t>③  Co-located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7" y="2880360"/>
            <a:ext cx="33375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Neuromorphic cores keep synaptic weights in local SRAM, on-chip mesh routing — no DRAM trip.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85048" y="4023359"/>
            <a:ext cx="3429000" cy="365760"/>
          </a:xfrm>
          <a:prstGeom prst="rect">
            <a:avLst/>
          </a:prstGeom>
          <a:solidFill>
            <a:srgbClr val="F8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7" y="4078223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 i="0">
                <a:solidFill>
                  <a:srgbClr val="0F2540"/>
                </a:solidFill>
                <a:latin typeface="Consolas"/>
              </a:defRPr>
            </a:pPr>
            <a:r>
              <a:t>DRAM 64-bit ≈ 1300 pJ vs SRAM ≈ 5 pJ</a:t>
            </a:r>
          </a:p>
        </p:txBody>
      </p:sp>
      <p:pic>
        <p:nvPicPr>
          <p:cNvPr id="24" name="Picture 23" descr="mac_vs_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09160"/>
            <a:ext cx="6766560" cy="2055664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498079" y="4846320"/>
            <a:ext cx="54864" cy="1508760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52944" y="4846320"/>
            <a:ext cx="4288536" cy="150876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19" y="4892040"/>
            <a:ext cx="3886200" cy="1417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E0B85F"/>
                </a:solidFill>
                <a:latin typeface="Calibri"/>
              </a:defRPr>
            </a:pPr>
            <a:r>
              <a:t>Bottom line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Efficiency is structural — comes from sparsity + binary spikes + co-located memory.</a:t>
            </a:r>
            <a:br/>
            <a:r>
              <a:t>MP-Init / TrSG protect (1) by stabilizing low-T training.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Appendix — Hyunho Kook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A2 / A7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66928"/>
            <a:ext cx="54864" cy="201168"/>
          </a:xfrm>
          <a:prstGeom prst="rect">
            <a:avLst/>
          </a:prstGeom>
          <a:solidFill>
            <a:srgbClr val="E56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 i="0">
                <a:solidFill>
                  <a:srgbClr val="E56945"/>
                </a:solidFill>
                <a:latin typeface="Calibri"/>
              </a:defRPr>
            </a:pPr>
            <a:r>
              <a:rPr spc="400"/>
              <a:t>APPENDIX ·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Energy: SNN Chip vs DNN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1">
                <a:solidFill>
                  <a:srgbClr val="7A7A7A"/>
                </a:solidFill>
                <a:latin typeface="Calibri"/>
              </a:defRPr>
            </a:pPr>
            <a:r>
              <a:t>Same task, four hardware platforms — what does the gap actually look like?</a:t>
            </a:r>
          </a:p>
        </p:txBody>
      </p:sp>
      <p:pic>
        <p:nvPicPr>
          <p:cNvPr id="6" name="Picture 5" descr="energy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94560"/>
            <a:ext cx="7040880" cy="34049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440680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1">
                <a:solidFill>
                  <a:srgbClr val="7A7A7A"/>
                </a:solidFill>
                <a:latin typeface="Calibri"/>
              </a:defRPr>
            </a:pPr>
            <a:r>
              <a:t>Same Aloha keyword-spotting task on each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1945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 i="0">
                <a:solidFill>
                  <a:srgbClr val="0F2540"/>
                </a:solidFill>
                <a:latin typeface="Calibri"/>
              </a:defRPr>
            </a:pPr>
            <a:r>
              <a:t>How big is the gap?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6060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1D7E7E"/>
                </a:solidFill>
                <a:latin typeface="Calibri"/>
              </a:defRPr>
            </a:pPr>
            <a:r>
              <a:t>Sparse / event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90779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 i="0">
                <a:solidFill>
                  <a:srgbClr val="1A1A1A"/>
                </a:solidFill>
                <a:latin typeface="Calibri"/>
              </a:defRPr>
            </a:pPr>
            <a:r>
              <a:t>~50–100×  vs embedded GPU</a:t>
            </a:r>
            <a:br/>
            <a:r>
              <a:t>(keyword spot, gesture, sparse coding)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6118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E0B85F"/>
                </a:solidFill>
                <a:latin typeface="Calibri"/>
              </a:defRPr>
            </a:pPr>
            <a:r>
              <a:t>Static images (CIFAR / ImageNet)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91363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 i="0">
                <a:solidFill>
                  <a:srgbClr val="1A1A1A"/>
                </a:solidFill>
                <a:latin typeface="Calibri"/>
              </a:defRPr>
            </a:pPr>
            <a:r>
              <a:t>~2–5×  vs GPU at iso-accuracy</a:t>
            </a:r>
            <a:br/>
            <a:r>
              <a:t>(per published SNN/CNN comparisons)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4348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 i="0">
                <a:solidFill>
                  <a:srgbClr val="E56945"/>
                </a:solidFill>
                <a:latin typeface="Calibri"/>
              </a:defRPr>
            </a:pPr>
            <a:r>
              <a:t>Why so task-dependent?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736592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 i="0">
                <a:solidFill>
                  <a:srgbClr val="1A1A1A"/>
                </a:solidFill>
                <a:latin typeface="Calibri"/>
              </a:defRPr>
            </a:pPr>
            <a:r>
              <a:t>Energy ∝ T × spike-rate × neurons.</a:t>
            </a:r>
            <a:br/>
            <a:r>
              <a:t>Low-T + high-sparsity → big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5532120"/>
            <a:ext cx="54864" cy="822960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35824" y="5532120"/>
            <a:ext cx="4151376" cy="82296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5577840"/>
            <a:ext cx="374903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50" b="1">
                <a:solidFill>
                  <a:srgbClr val="E0B85F"/>
                </a:solidFill>
                <a:latin typeface="Calibri"/>
              </a:defRPr>
            </a:pPr>
            <a:r>
              <a:t>Why this matters for our work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  <a:latin typeface="Calibri"/>
              </a:defRPr>
            </a:pPr>
            <a:r>
              <a:t>MP-Init enables T = 2 SOTA → directly multiplies energy savings.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1">
                <a:solidFill>
                  <a:srgbClr val="7A7A7A"/>
                </a:solidFill>
                <a:latin typeface="Calibri"/>
              </a:defRPr>
            </a:pPr>
            <a:r>
              <a:t>Sources: Blouw et al. 2019 (keyword-spotting benchmark) ·</a:t>
            </a:r>
            <a:br/>
            <a:r>
              <a:t>Davies et al. 2021 (LASSO 48× vs CPU) · Horowitz ISSCC 2014 (per-op energy).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Appendix — Hyunho Kook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A3 / A7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66928"/>
            <a:ext cx="54864" cy="201168"/>
          </a:xfrm>
          <a:prstGeom prst="rect">
            <a:avLst/>
          </a:prstGeom>
          <a:solidFill>
            <a:srgbClr val="E56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 i="0">
                <a:solidFill>
                  <a:srgbClr val="E56945"/>
                </a:solidFill>
                <a:latin typeface="Calibri"/>
              </a:defRPr>
            </a:pPr>
            <a:r>
              <a:rPr spc="400"/>
              <a:t>APPENDIX ·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What Is an Event-Based Dataset?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1">
                <a:solidFill>
                  <a:srgbClr val="7A7A7A"/>
                </a:solidFill>
                <a:latin typeface="Calibri"/>
              </a:defRPr>
            </a:pPr>
            <a:r>
              <a:t>Output of asynchronous DVS cameras — sparse, fast, high dynamic range.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 i="0">
                <a:solidFill>
                  <a:srgbClr val="0F2540"/>
                </a:solidFill>
                <a:latin typeface="Calibri"/>
              </a:defRPr>
            </a:pPr>
            <a:r>
              <a:t>DVS: Dynamic Vision Sensor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Each pixel asynchronously emits an event when its log-intensity changes by a threshold.</a:t>
            </a:r>
            <a:br/>
            <a:r>
              <a:t>Output: a stream of (x, y, t, polarity) tuples.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77639"/>
            <a:ext cx="1188720" cy="868680"/>
          </a:xfrm>
          <a:prstGeom prst="rect">
            <a:avLst/>
          </a:prstGeom>
          <a:solidFill>
            <a:srgbClr val="F8F7F2"/>
          </a:solidFill>
          <a:ln w="19050">
            <a:solidFill>
              <a:srgbClr val="1D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069079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 i="0">
                <a:solidFill>
                  <a:srgbClr val="1D7E7E"/>
                </a:solidFill>
                <a:latin typeface="Calibri"/>
              </a:defRPr>
            </a:pPr>
            <a:r>
              <a:t>μs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348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7A7A7A"/>
                </a:solidFill>
                <a:latin typeface="Calibri"/>
              </a:defRPr>
            </a:pPr>
            <a:r>
              <a:t>temporal resolution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5648" y="3977639"/>
            <a:ext cx="1188720" cy="868680"/>
          </a:xfrm>
          <a:prstGeom prst="rect">
            <a:avLst/>
          </a:prstGeom>
          <a:solidFill>
            <a:srgbClr val="F8F7F2"/>
          </a:solidFill>
          <a:ln w="19050">
            <a:solidFill>
              <a:srgbClr val="E0B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55648" y="4069079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 i="0">
                <a:solidFill>
                  <a:srgbClr val="E0B85F"/>
                </a:solidFill>
                <a:latin typeface="Calibri"/>
              </a:defRPr>
            </a:pPr>
            <a:r>
              <a:t>&gt;120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44348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7A7A7A"/>
                </a:solidFill>
                <a:latin typeface="Calibri"/>
              </a:defRPr>
            </a:pPr>
            <a:r>
              <a:t>dynamic range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54096" y="3977639"/>
            <a:ext cx="1188720" cy="868680"/>
          </a:xfrm>
          <a:prstGeom prst="rect">
            <a:avLst/>
          </a:prstGeom>
          <a:solidFill>
            <a:srgbClr val="F8F7F2"/>
          </a:solidFill>
          <a:ln w="19050">
            <a:solidFill>
              <a:srgbClr val="E56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4069079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 i="0">
                <a:solidFill>
                  <a:srgbClr val="E56945"/>
                </a:solidFill>
                <a:latin typeface="Calibri"/>
              </a:defRPr>
            </a:pPr>
            <a:r>
              <a:t>Sparse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4096" y="44348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7A7A7A"/>
                </a:solidFill>
                <a:latin typeface="Calibri"/>
              </a:defRPr>
            </a:pPr>
            <a:r>
              <a:t>only changes emit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52544" y="3977639"/>
            <a:ext cx="1188720" cy="868680"/>
          </a:xfrm>
          <a:prstGeom prst="rect">
            <a:avLst/>
          </a:prstGeom>
          <a:solidFill>
            <a:srgbClr val="F8F7F2"/>
          </a:solidFill>
          <a:ln w="19050">
            <a:solidFill>
              <a:srgbClr val="0F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4069079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 i="0">
                <a:solidFill>
                  <a:srgbClr val="0F2540"/>
                </a:solidFill>
                <a:latin typeface="Calibri"/>
              </a:defRPr>
            </a:pPr>
            <a:r>
              <a:t>No blur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2544" y="44348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0" i="0">
                <a:solidFill>
                  <a:srgbClr val="7A7A7A"/>
                </a:solidFill>
                <a:latin typeface="Calibri"/>
              </a:defRPr>
            </a:pPr>
            <a:r>
              <a:t>no exposure window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66360"/>
            <a:ext cx="54864" cy="1005840"/>
          </a:xfrm>
          <a:prstGeom prst="rect">
            <a:avLst/>
          </a:prstGeom>
          <a:solidFill>
            <a:srgbClr val="1D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2064" y="5166360"/>
            <a:ext cx="5294376" cy="1005840"/>
          </a:xfrm>
          <a:prstGeom prst="rect">
            <a:avLst/>
          </a:prstGeom>
          <a:solidFill>
            <a:srgbClr val="E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12080"/>
            <a:ext cx="4892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1D7E7E"/>
                </a:solidFill>
                <a:latin typeface="Calibri"/>
              </a:defRPr>
            </a:pPr>
            <a:r>
              <a:t>In this thesis</a:t>
            </a:r>
          </a:p>
          <a:p>
            <a:pPr>
              <a:spcBef>
                <a:spcPts val="600"/>
              </a:spcBef>
              <a:defRPr sz="1100">
                <a:solidFill>
                  <a:srgbClr val="1A1A1A"/>
                </a:solidFill>
                <a:latin typeface="Calibri"/>
              </a:defRPr>
            </a:pPr>
            <a:r>
              <a:t>DVS-CIFAR10  (event-based image classification, T = 10).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035040" y="2194560"/>
          <a:ext cx="58521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606040"/>
                <a:gridCol w="1143000"/>
              </a:tblGrid>
              <a:tr h="411480">
                <a:tc>
                  <a:txBody>
                    <a:bodyPr anchor="ctr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 marL="109728" marR="91440">
                    <a:solidFill>
                      <a:srgbClr val="0F25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marL="109728" marR="91440">
                    <a:solidFill>
                      <a:srgbClr val="0F25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Size</a:t>
                      </a:r>
                    </a:p>
                  </a:txBody>
                  <a:tcPr marL="109728" marR="91440">
                    <a:solidFill>
                      <a:srgbClr val="0F2540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defRPr b="1" sz="1150">
                          <a:solidFill>
                            <a:srgbClr val="1D7E7E"/>
                          </a:solidFill>
                          <a:latin typeface="Calibri"/>
                        </a:defRPr>
                      </a:pPr>
                      <a:r>
                        <a:t>DVS-CIFAR10</a:t>
                      </a:r>
                    </a:p>
                  </a:txBody>
                  <a:tcPr marL="109728" marR="91440">
                    <a:solidFill>
                      <a:srgbClr val="E5F5F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CIFAR-10 on monitor + saccading DVS</a:t>
                      </a:r>
                    </a:p>
                  </a:txBody>
                  <a:tcPr marL="109728" marR="91440">
                    <a:solidFill>
                      <a:srgbClr val="E5F5F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10 K</a:t>
                      </a:r>
                    </a:p>
                  </a:txBody>
                  <a:tcPr marL="109728" marR="91440">
                    <a:solidFill>
                      <a:srgbClr val="E5F5F0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defRPr b="1" sz="1150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N-MNIST</a:t>
                      </a:r>
                    </a:p>
                  </a:txBody>
                  <a:tcPr marL="109728" marR="9144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MNIST shown to event camera</a:t>
                      </a:r>
                    </a:p>
                  </a:txBody>
                  <a:tcPr marL="109728" marR="9144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70 K</a:t>
                      </a:r>
                    </a:p>
                  </a:txBody>
                  <a:tcPr marL="109728" marR="91440">
                    <a:solidFill>
                      <a:srgbClr val="F8F7F2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defRPr b="1" sz="1150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N-Caltech101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Caltech101 in event form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9.1 K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defRPr b="1" sz="1150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DVS-Gesture (IBM)</a:t>
                      </a:r>
                    </a:p>
                  </a:txBody>
                  <a:tcPr marL="109728" marR="9144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11 hand gestures, 29 subjects</a:t>
                      </a:r>
                    </a:p>
                  </a:txBody>
                  <a:tcPr marL="109728" marR="9144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1.3 K clips</a:t>
                      </a:r>
                    </a:p>
                  </a:txBody>
                  <a:tcPr marL="109728" marR="91440">
                    <a:solidFill>
                      <a:srgbClr val="F8F7F2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defRPr b="1" sz="1150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SHD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Spiking Heidelberg Digits (audio events)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10 K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defRPr b="1" sz="1150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Gen1 / 1Mpx</a:t>
                      </a:r>
                    </a:p>
                  </a:txBody>
                  <a:tcPr marL="109728" marR="9144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Prophesee automotive (object detect.)</a:t>
                      </a:r>
                    </a:p>
                  </a:txBody>
                  <a:tcPr marL="109728" marR="9144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39 h / 14 h</a:t>
                      </a:r>
                    </a:p>
                  </a:txBody>
                  <a:tcPr marL="109728" marR="91440">
                    <a:solidFill>
                      <a:srgbClr val="F8F7F2"/>
                    </a:solidFill>
                  </a:tcPr>
                </a:tc>
              </a:tr>
              <a:tr h="502920">
                <a:tc>
                  <a:txBody>
                    <a:bodyPr anchor="ctr"/>
                    <a:lstStyle/>
                    <a:p>
                      <a:pPr algn="l">
                        <a:defRPr b="1" sz="1150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ASL-DVS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5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American Sign Language (event)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150">
                          <a:solidFill>
                            <a:srgbClr val="1A1A1A"/>
                          </a:solidFill>
                          <a:latin typeface="Consolas"/>
                        </a:defRPr>
                      </a:pPr>
                      <a:r>
                        <a:t>100 K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035040" y="6217920"/>
            <a:ext cx="5852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0" i="1">
                <a:solidFill>
                  <a:srgbClr val="7A7A7A"/>
                </a:solidFill>
                <a:latin typeface="Calibri"/>
              </a:defRPr>
            </a:pPr>
            <a:r>
              <a:t>Highlighted: dataset used in this thesis.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Appendix — Hyunho Kook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A4 / A7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66928"/>
            <a:ext cx="54864" cy="201168"/>
          </a:xfrm>
          <a:prstGeom prst="rect">
            <a:avLst/>
          </a:prstGeom>
          <a:solidFill>
            <a:srgbClr val="E56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 i="0">
                <a:solidFill>
                  <a:srgbClr val="E56945"/>
                </a:solidFill>
                <a:latin typeface="Calibri"/>
              </a:defRPr>
            </a:pPr>
            <a:r>
              <a:rPr spc="400"/>
              <a:t>APPENDIX ·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From DVS Events to SNN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1">
                <a:solidFill>
                  <a:srgbClr val="7A7A7A"/>
                </a:solidFill>
                <a:latin typeface="Calibri"/>
              </a:defRPr>
            </a:pPr>
            <a:r>
              <a:t>Asynchronous events become T frames that the LIF stack consumes.</a:t>
            </a:r>
          </a:p>
        </p:txBody>
      </p:sp>
      <p:pic>
        <p:nvPicPr>
          <p:cNvPr id="6" name="Picture 5" descr="dvs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0"/>
            <a:ext cx="11064240" cy="38220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760720"/>
            <a:ext cx="54864" cy="594360"/>
          </a:xfrm>
          <a:prstGeom prst="rect">
            <a:avLst/>
          </a:prstGeom>
          <a:solidFill>
            <a:srgbClr val="1D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3" y="5760720"/>
            <a:ext cx="11009376" cy="594360"/>
          </a:xfrm>
          <a:prstGeom prst="rect">
            <a:avLst/>
          </a:prstGeom>
          <a:solidFill>
            <a:srgbClr val="E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806440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50" b="1">
                <a:solidFill>
                  <a:srgbClr val="1D7E7E"/>
                </a:solidFill>
                <a:latin typeface="Calibri"/>
              </a:defRPr>
            </a:pPr>
            <a:r>
              <a:t>Why this matters for MP-Init</a:t>
            </a:r>
          </a:p>
          <a:p>
            <a:pPr>
              <a:spcBef>
                <a:spcPts val="600"/>
              </a:spcBef>
              <a:defRPr sz="1050">
                <a:solidFill>
                  <a:srgbClr val="1A1A1A"/>
                </a:solidFill>
                <a:latin typeface="Calibri"/>
              </a:defRPr>
            </a:pPr>
            <a:r>
              <a:t>The first frame after binning has no history → the membrane starts at zero, far from π. That's exactly the gap MP-Init closes.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Appendix — Hyunho Kook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A5 / A7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66928"/>
            <a:ext cx="54864" cy="201168"/>
          </a:xfrm>
          <a:prstGeom prst="rect">
            <a:avLst/>
          </a:prstGeom>
          <a:solidFill>
            <a:srgbClr val="E56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 i="0">
                <a:solidFill>
                  <a:srgbClr val="E56945"/>
                </a:solidFill>
                <a:latin typeface="Calibri"/>
              </a:defRPr>
            </a:pPr>
            <a:r>
              <a:rPr spc="400"/>
              <a:t>APPENDIX · 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How Were SNNs Trained Before?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1">
                <a:solidFill>
                  <a:srgbClr val="7A7A7A"/>
                </a:solidFill>
                <a:latin typeface="Calibri"/>
              </a:defRPr>
            </a:pPr>
            <a:r>
              <a:t>From biological learning rules to modern surrogate-gradient BPTT.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10698480" cy="36576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2648" y="2834640"/>
            <a:ext cx="237744" cy="237744"/>
          </a:xfrm>
          <a:prstGeom prst="ellipse">
            <a:avLst/>
          </a:prstGeom>
          <a:solidFill>
            <a:srgbClr val="E0B85F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4688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 i="0">
                <a:solidFill>
                  <a:srgbClr val="E0B85F"/>
                </a:solidFill>
                <a:latin typeface="Consolas"/>
              </a:defRPr>
            </a:pPr>
            <a:r>
              <a:t>1998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82879" y="315468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 i="0">
                <a:solidFill>
                  <a:srgbClr val="E0B85F"/>
                </a:solidFill>
                <a:latin typeface="Calibri"/>
              </a:defRPr>
            </a:pPr>
            <a:r>
              <a:t>STDP</a:t>
            </a:r>
          </a:p>
        </p:txBody>
      </p:sp>
      <p:sp>
        <p:nvSpPr>
          <p:cNvPr id="10" name="Oval 9"/>
          <p:cNvSpPr/>
          <p:nvPr/>
        </p:nvSpPr>
        <p:spPr>
          <a:xfrm>
            <a:off x="3538728" y="2834640"/>
            <a:ext cx="237744" cy="237744"/>
          </a:xfrm>
          <a:prstGeom prst="ellipse">
            <a:avLst/>
          </a:prstGeom>
          <a:solidFill>
            <a:srgbClr val="E56945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4688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 i="0">
                <a:solidFill>
                  <a:srgbClr val="E56945"/>
                </a:solidFill>
                <a:latin typeface="Consolas"/>
              </a:defRPr>
            </a:pPr>
            <a:r>
              <a:t>2015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15468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 i="0">
                <a:solidFill>
                  <a:srgbClr val="E56945"/>
                </a:solidFill>
                <a:latin typeface="Calibri"/>
              </a:defRPr>
            </a:pPr>
            <a:r>
              <a:t>ANN→SNN</a:t>
            </a:r>
            <a:br/>
            <a:r>
              <a:t>conversion</a:t>
            </a:r>
          </a:p>
        </p:txBody>
      </p:sp>
      <p:sp>
        <p:nvSpPr>
          <p:cNvPr id="13" name="Oval 12"/>
          <p:cNvSpPr/>
          <p:nvPr/>
        </p:nvSpPr>
        <p:spPr>
          <a:xfrm>
            <a:off x="7196328" y="2834640"/>
            <a:ext cx="237744" cy="237744"/>
          </a:xfrm>
          <a:prstGeom prst="ellipse">
            <a:avLst/>
          </a:prstGeom>
          <a:solidFill>
            <a:srgbClr val="1D7E7E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4688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 i="0">
                <a:solidFill>
                  <a:srgbClr val="1D7E7E"/>
                </a:solidFill>
                <a:latin typeface="Consolas"/>
              </a:defRPr>
            </a:pPr>
            <a:r>
              <a:t>2018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5468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 i="0">
                <a:solidFill>
                  <a:srgbClr val="1D7E7E"/>
                </a:solidFill>
                <a:latin typeface="Calibri"/>
              </a:defRPr>
            </a:pPr>
            <a:r>
              <a:t>Surrogate</a:t>
            </a:r>
            <a:br/>
            <a:r>
              <a:t>gradient</a:t>
            </a:r>
          </a:p>
        </p:txBody>
      </p:sp>
      <p:sp>
        <p:nvSpPr>
          <p:cNvPr id="16" name="Oval 15"/>
          <p:cNvSpPr/>
          <p:nvPr/>
        </p:nvSpPr>
        <p:spPr>
          <a:xfrm>
            <a:off x="10853928" y="2834640"/>
            <a:ext cx="237744" cy="237744"/>
          </a:xfrm>
          <a:prstGeom prst="ellipse">
            <a:avLst/>
          </a:prstGeom>
          <a:solidFill>
            <a:srgbClr val="0F2540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0" y="24688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 i="0">
                <a:solidFill>
                  <a:srgbClr val="0F2540"/>
                </a:solidFill>
                <a:latin typeface="Consolas"/>
              </a:defRPr>
            </a:pPr>
            <a:r>
              <a:t>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15468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 i="0">
                <a:solidFill>
                  <a:srgbClr val="0F2540"/>
                </a:solidFill>
                <a:latin typeface="Calibri"/>
              </a:defRPr>
            </a:pPr>
            <a:r>
              <a:t>Direct +</a:t>
            </a:r>
            <a:br/>
            <a:r>
              <a:t>learnable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60520"/>
            <a:ext cx="26060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B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160520"/>
            <a:ext cx="2606040" cy="54864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3251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E0B85F"/>
                </a:solidFill>
                <a:latin typeface="Calibri"/>
              </a:defRPr>
            </a:pPr>
            <a:r>
              <a:t>Spike-Timing-Dependent Plasticity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27448"/>
            <a:ext cx="23317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1A1A1A"/>
                </a:solidFill>
                <a:latin typeface="Calibri"/>
              </a:defRPr>
            </a:pPr>
            <a:r>
              <a:t>Biological Hebbian rule.</a:t>
            </a:r>
            <a:br/>
            <a:r>
              <a:t>Unsupervised, local; works on small nets only.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7784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1">
                <a:solidFill>
                  <a:srgbClr val="7A7A7A"/>
                </a:solidFill>
                <a:latin typeface="Calibri"/>
              </a:defRPr>
            </a:pPr>
            <a:r>
              <a:t>Bi &amp; Poo 1998</a:t>
            </a:r>
            <a:br/>
            <a:r>
              <a:t>Diehl &amp; Cook 2015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4160520"/>
            <a:ext cx="26060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56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46120" y="4160520"/>
            <a:ext cx="2606040" cy="54864"/>
          </a:xfrm>
          <a:prstGeom prst="rect">
            <a:avLst/>
          </a:prstGeom>
          <a:solidFill>
            <a:srgbClr val="E56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79" y="43251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E56945"/>
                </a:solidFill>
                <a:latin typeface="Calibri"/>
              </a:defRPr>
            </a:pPr>
            <a:r>
              <a:t>Train ANN → convert weights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79" y="4727448"/>
            <a:ext cx="23317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1A1A1A"/>
                </a:solidFill>
                <a:latin typeface="Calibri"/>
              </a:defRPr>
            </a:pPr>
            <a:r>
              <a:t>Pretrained ReLU CNN → spike rates.</a:t>
            </a:r>
            <a:br/>
            <a:r>
              <a:t>Early methods: T = 100–2000.</a:t>
            </a:r>
            <a:br/>
            <a:r>
              <a:t>Modern (QCFS '23, Hao '23): T ≤ 8.</a:t>
            </a:r>
            <a:br/>
            <a:r>
              <a:t>Still cannot consume native event data.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79" y="557784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1">
                <a:solidFill>
                  <a:srgbClr val="7A7A7A"/>
                </a:solidFill>
                <a:latin typeface="Calibri"/>
              </a:defRPr>
            </a:pPr>
            <a:r>
              <a:t>Cao 2015 · Rueckauer 2017</a:t>
            </a:r>
            <a:br/>
            <a:r>
              <a:t>Bu 2023 (QCFS) · Hao 2023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4160520"/>
            <a:ext cx="26060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D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89320" y="4160520"/>
            <a:ext cx="2606040" cy="54864"/>
          </a:xfrm>
          <a:prstGeom prst="rect">
            <a:avLst/>
          </a:prstGeom>
          <a:solidFill>
            <a:srgbClr val="1D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43251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1D7E7E"/>
                </a:solidFill>
                <a:latin typeface="Calibri"/>
              </a:defRPr>
            </a:pPr>
            <a:r>
              <a:t>Surrogate gradient (STBP / BPTT)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727448"/>
            <a:ext cx="23317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1A1A1A"/>
                </a:solidFill>
                <a:latin typeface="Calibri"/>
              </a:defRPr>
            </a:pPr>
            <a:r>
              <a:t>Replace Heaviside backward with a smooth function.</a:t>
            </a:r>
            <a:br/>
            <a:r>
              <a:t>Few timesteps; works on event data; modern dominant.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57784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1">
                <a:solidFill>
                  <a:srgbClr val="7A7A7A"/>
                </a:solidFill>
                <a:latin typeface="Calibri"/>
              </a:defRPr>
            </a:pPr>
            <a:r>
              <a:t>Bohte 2002 · Wu 2018</a:t>
            </a:r>
            <a:br/>
            <a:r>
              <a:t>Neftci 2019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4160520"/>
            <a:ext cx="26060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32520" y="4160520"/>
            <a:ext cx="2606040" cy="54864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0" y="432511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 i="0">
                <a:solidFill>
                  <a:srgbClr val="0F2540"/>
                </a:solidFill>
                <a:latin typeface="Calibri"/>
              </a:defRPr>
            </a:pPr>
            <a:r>
              <a:t>Learnable LIF parameters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4727448"/>
            <a:ext cx="23317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1A1A1A"/>
                </a:solidFill>
                <a:latin typeface="Calibri"/>
              </a:defRPr>
            </a:pPr>
            <a:r>
              <a:t>Train V_thr, τ end-to-end → adaptive neurons.</a:t>
            </a:r>
            <a:br/>
            <a:r>
              <a:t>This thesis: stabilize that training pathway.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557784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1">
                <a:solidFill>
                  <a:srgbClr val="7A7A7A"/>
                </a:solidFill>
                <a:latin typeface="Calibri"/>
              </a:defRPr>
            </a:pPr>
            <a:r>
              <a:t>Fang 2021 · Wang 2022</a:t>
            </a:r>
            <a:br/>
            <a:r>
              <a:t>Rathi 2023 · ours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Appendix — Hyunho Kook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A6 / A7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66928"/>
            <a:ext cx="54864" cy="201168"/>
          </a:xfrm>
          <a:prstGeom prst="rect">
            <a:avLst/>
          </a:prstGeom>
          <a:solidFill>
            <a:srgbClr val="E56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 i="0">
                <a:solidFill>
                  <a:srgbClr val="E56945"/>
                </a:solidFill>
                <a:latin typeface="Calibri"/>
              </a:defRPr>
            </a:pPr>
            <a:r>
              <a:rPr spc="400"/>
              <a:t>APPENDIX ·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 i="0">
                <a:solidFill>
                  <a:srgbClr val="0F2540"/>
                </a:solidFill>
                <a:latin typeface="Cambria"/>
              </a:defRPr>
            </a:pPr>
            <a:r>
              <a:t>Where Prior Work Falls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0" i="1">
                <a:solidFill>
                  <a:srgbClr val="7A7A7A"/>
                </a:solidFill>
                <a:latin typeface="Calibri"/>
              </a:defRPr>
            </a:pPr>
            <a:r>
              <a:t>TCS methods miss the membrane potential; threshold-learning methods don't diagnose the gradient.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 i="0">
                <a:solidFill>
                  <a:srgbClr val="0F2540"/>
                </a:solidFill>
                <a:latin typeface="Calibri"/>
              </a:defRPr>
            </a:pPr>
            <a:r>
              <a:t>TCS / Normalization in SNNs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606040"/>
          <a:ext cx="5486399" cy="2724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331720"/>
                <a:gridCol w="1874519"/>
              </a:tblGrid>
              <a:tr h="457200">
                <a:tc>
                  <a:txBody>
                    <a:bodyPr anchor="ctr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marL="109728" marR="91440">
                    <a:solidFill>
                      <a:srgbClr val="0F25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does</a:t>
                      </a:r>
                    </a:p>
                  </a:txBody>
                  <a:tcPr marL="109728" marR="91440">
                    <a:solidFill>
                      <a:srgbClr val="0F25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misses</a:t>
                      </a:r>
                    </a:p>
                  </a:txBody>
                  <a:tcPr marL="109728" marR="91440">
                    <a:solidFill>
                      <a:srgbClr val="0F2540"/>
                    </a:solidFill>
                  </a:tcPr>
                </a:tc>
              </a:tr>
              <a:tr h="566928">
                <a:tc>
                  <a:txBody>
                    <a:bodyPr anchor="ctr"/>
                    <a:lstStyle/>
                    <a:p>
                      <a:pPr algn="l">
                        <a:defRPr sz="1150" b="1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BNTT '21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BN on synaptic input current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00" i="1">
                          <a:solidFill>
                            <a:srgbClr val="E56945"/>
                          </a:solidFill>
                          <a:latin typeface="Calibri"/>
                        </a:defRPr>
                      </a:pPr>
                      <a:r>
                        <a:t>U[t] drift not corrected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anchor="ctr"/>
                    <a:lstStyle/>
                    <a:p>
                      <a:pPr algn="l">
                        <a:defRPr sz="1150" b="1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tdBN '20</a:t>
                      </a:r>
                    </a:p>
                  </a:txBody>
                  <a:tcPr marL="109728" marR="9144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Threshold-dependent BN on activations</a:t>
                      </a:r>
                    </a:p>
                  </a:txBody>
                  <a:tcPr marL="109728" marR="9144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00" i="1">
                          <a:solidFill>
                            <a:srgbClr val="E56945"/>
                          </a:solidFill>
                          <a:latin typeface="Calibri"/>
                        </a:defRPr>
                      </a:pPr>
                      <a:r>
                        <a:t>Pre-spike BN; U[t] persists</a:t>
                      </a:r>
                    </a:p>
                  </a:txBody>
                  <a:tcPr marL="109728" marR="91440">
                    <a:solidFill>
                      <a:srgbClr val="F8F7F2"/>
                    </a:solidFill>
                  </a:tcPr>
                </a:tc>
              </a:tr>
              <a:tr h="566928">
                <a:tc>
                  <a:txBody>
                    <a:bodyPr anchor="ctr"/>
                    <a:lstStyle/>
                    <a:p>
                      <a:pPr algn="l">
                        <a:defRPr sz="1150" b="1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TEBN '22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Timestep-specific affine on outputs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00" i="1">
                          <a:solidFill>
                            <a:srgbClr val="E56945"/>
                          </a:solidFill>
                          <a:latin typeface="Calibri"/>
                        </a:defRPr>
                      </a:pPr>
                      <a:r>
                        <a:t>Membrane drift untouched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anchor="ctr"/>
                    <a:lstStyle/>
                    <a:p>
                      <a:pPr algn="l">
                        <a:defRPr sz="1150" b="1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TAB '24</a:t>
                      </a:r>
                    </a:p>
                  </a:txBody>
                  <a:tcPr marL="109728" marR="9144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Temporal-adaptive output normalization</a:t>
                      </a:r>
                    </a:p>
                  </a:txBody>
                  <a:tcPr marL="109728" marR="9144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00" i="1">
                          <a:solidFill>
                            <a:srgbClr val="E56945"/>
                          </a:solidFill>
                          <a:latin typeface="Calibri"/>
                        </a:defRPr>
                      </a:pPr>
                      <a:r>
                        <a:t>Membrane TCS persists</a:t>
                      </a:r>
                    </a:p>
                  </a:txBody>
                  <a:tcPr marL="109728" marR="91440">
                    <a:solidFill>
                      <a:srgbClr val="F8F7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486400"/>
            <a:ext cx="54864" cy="777240"/>
          </a:xfrm>
          <a:prstGeom prst="rect">
            <a:avLst/>
          </a:prstGeom>
          <a:solidFill>
            <a:srgbClr val="1D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" y="5486400"/>
            <a:ext cx="5431536" cy="777240"/>
          </a:xfrm>
          <a:prstGeom prst="rect">
            <a:avLst/>
          </a:prstGeom>
          <a:solidFill>
            <a:srgbClr val="E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532120"/>
            <a:ext cx="5029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1D7E7E"/>
                </a:solidFill>
                <a:latin typeface="Calibri"/>
              </a:defRPr>
            </a:pPr>
            <a:r>
              <a:t>Our take (MP-Init)</a:t>
            </a:r>
          </a:p>
          <a:p>
            <a:pPr>
              <a:spcBef>
                <a:spcPts val="600"/>
              </a:spcBef>
              <a:defRPr sz="1100">
                <a:solidFill>
                  <a:srgbClr val="1A1A1A"/>
                </a:solidFill>
                <a:latin typeface="Calibri"/>
              </a:defRPr>
            </a:pPr>
            <a:r>
              <a:t>Fix the cause, not symptom — align M[t] with stationary π directly.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 i="0">
                <a:solidFill>
                  <a:srgbClr val="0F2540"/>
                </a:solidFill>
                <a:latin typeface="Calibri"/>
              </a:defRPr>
            </a:pPr>
            <a:r>
              <a:t>Trainable LIF parameters (V_thr, τ)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63640" y="2606040"/>
          <a:ext cx="5486399" cy="2724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194560"/>
                <a:gridCol w="1874519"/>
              </a:tblGrid>
              <a:tr h="457200">
                <a:tc>
                  <a:txBody>
                    <a:bodyPr anchor="ctr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marL="109728" marR="91440">
                    <a:solidFill>
                      <a:srgbClr val="0F25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What's learned</a:t>
                      </a:r>
                    </a:p>
                  </a:txBody>
                  <a:tcPr marL="109728" marR="91440">
                    <a:solidFill>
                      <a:srgbClr val="0F254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misses</a:t>
                      </a:r>
                    </a:p>
                  </a:txBody>
                  <a:tcPr marL="109728" marR="91440">
                    <a:solidFill>
                      <a:srgbClr val="0F2540"/>
                    </a:solidFill>
                  </a:tcPr>
                </a:tc>
              </a:tr>
              <a:tr h="566928">
                <a:tc>
                  <a:txBody>
                    <a:bodyPr anchor="ctr"/>
                    <a:lstStyle/>
                    <a:p>
                      <a:pPr algn="l">
                        <a:defRPr sz="1150" b="1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PLIF '21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Leakage τ only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00" i="1">
                          <a:solidFill>
                            <a:srgbClr val="E56945"/>
                          </a:solidFill>
                          <a:latin typeface="Calibri"/>
                        </a:defRPr>
                      </a:pPr>
                      <a:r>
                        <a:t>V_thr fixed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anchor="ctr"/>
                    <a:lstStyle/>
                    <a:p>
                      <a:pPr algn="l">
                        <a:defRPr sz="1150" b="1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LTMD '22</a:t>
                      </a:r>
                    </a:p>
                  </a:txBody>
                  <a:tcPr marL="109728" marR="9144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V_thr + τ (heavy clipping)</a:t>
                      </a:r>
                    </a:p>
                  </a:txBody>
                  <a:tcPr marL="109728" marR="91440">
                    <a:solidFill>
                      <a:srgbClr val="F8F7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00" i="1">
                          <a:solidFill>
                            <a:srgbClr val="E56945"/>
                          </a:solidFill>
                          <a:latin typeface="Calibri"/>
                        </a:defRPr>
                      </a:pPr>
                      <a:r>
                        <a:t>Hides instability</a:t>
                      </a:r>
                    </a:p>
                  </a:txBody>
                  <a:tcPr marL="109728" marR="91440">
                    <a:solidFill>
                      <a:srgbClr val="F8F7F2"/>
                    </a:solidFill>
                  </a:tcPr>
                </a:tc>
              </a:tr>
              <a:tr h="566928">
                <a:tc>
                  <a:txBody>
                    <a:bodyPr anchor="ctr"/>
                    <a:lstStyle/>
                    <a:p>
                      <a:pPr algn="l">
                        <a:defRPr sz="1150" b="1">
                          <a:solidFill>
                            <a:srgbClr val="0F2540"/>
                          </a:solidFill>
                          <a:latin typeface="Calibri"/>
                        </a:defRPr>
                      </a:pPr>
                      <a:r>
                        <a:t>DIET-SNN '23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V_thr + τ (gradient clip)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00" i="1">
                          <a:solidFill>
                            <a:srgbClr val="E56945"/>
                          </a:solidFill>
                          <a:latin typeface="Calibri"/>
                        </a:defRPr>
                      </a:pPr>
                      <a:r>
                        <a:t>Doesn't classify failure</a:t>
                      </a:r>
                    </a:p>
                  </a:txBody>
                  <a:tcPr marL="109728" marR="9144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anchor="ctr"/>
                    <a:lstStyle/>
                    <a:p>
                      <a:pPr algn="l">
                        <a:defRPr sz="1150" b="1">
                          <a:solidFill>
                            <a:srgbClr val="1D7E7E"/>
                          </a:solidFill>
                          <a:latin typeface="Calibri"/>
                        </a:defRPr>
                      </a:pPr>
                      <a:r>
                        <a:t>Ours (TrSG)</a:t>
                      </a:r>
                    </a:p>
                  </a:txBody>
                  <a:tcPr marL="109728" marR="91440">
                    <a:solidFill>
                      <a:srgbClr val="E5F5F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00" b="1">
                          <a:solidFill>
                            <a:srgbClr val="1D7E7E"/>
                          </a:solidFill>
                          <a:latin typeface="Calibri"/>
                        </a:defRPr>
                      </a:pPr>
                      <a:r>
                        <a:t>V_thr + τ, scale-invariant</a:t>
                      </a:r>
                    </a:p>
                  </a:txBody>
                  <a:tcPr marL="109728" marR="91440">
                    <a:solidFill>
                      <a:srgbClr val="E5F5F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100" b="1">
                          <a:solidFill>
                            <a:srgbClr val="1D7E7E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109728" marR="91440">
                    <a:solidFill>
                      <a:srgbClr val="E5F5F0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263640" y="5486400"/>
            <a:ext cx="54864" cy="777240"/>
          </a:xfrm>
          <a:prstGeom prst="rect">
            <a:avLst/>
          </a:prstGeom>
          <a:solidFill>
            <a:srgbClr val="E0B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8503" y="5486400"/>
            <a:ext cx="5431536" cy="777240"/>
          </a:xfrm>
          <a:prstGeom prst="rect">
            <a:avLst/>
          </a:prstGeom>
          <a:solidFill>
            <a:srgbClr val="0F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5532120"/>
            <a:ext cx="5029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E0B85F"/>
                </a:solidFill>
                <a:latin typeface="Calibri"/>
              </a:defRPr>
            </a:pPr>
            <a:r>
              <a:t>Our take (TrSG)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Diagnose first (4 failure modes), then cancel the 1/V_thr factor by construction.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Appendix — Hyunho Kook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92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Calibri"/>
              </a:defRPr>
            </a:pPr>
            <a:r>
              <a:t>A7 / A7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