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18288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MASTER'S THESIS DEFENSE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 i="0">
                <a:solidFill>
                  <a:srgbClr val="FFFFFF"/>
                </a:solidFill>
                <a:latin typeface="Cambria"/>
              </a:defRPr>
            </a:pPr>
            <a:r>
              <a:t>Enhancing Stability in Direct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 i="0">
                <a:solidFill>
                  <a:srgbClr val="FFFFFF"/>
                </a:solidFill>
                <a:latin typeface="Cambria"/>
              </a:defRPr>
            </a:pPr>
            <a:r>
              <a:t>of Spiking Neural Networks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 i="1">
                <a:solidFill>
                  <a:srgbClr val="E0B85F"/>
                </a:solidFill>
                <a:latin typeface="Cambria"/>
              </a:defRPr>
            </a:pPr>
            <a:r>
              <a:t>Membrane Potential Initialization &amp; Threshold-Robust Surrogate Gradients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6908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Hyunho Kook  (국 현 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Advisor: Prof. Eunhyeok Park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749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Committee: Prof. Jungseul Ok · Prof. Jae-Joon Kim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8095A8"/>
                </a:solidFill>
                <a:latin typeface="Calibri"/>
              </a:defRPr>
            </a:pPr>
            <a:r>
              <a:t>Department of Computer Science and Engineering · POSTECH · January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Spiking Neural Networks?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DNNs are powerful but expensive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5176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Training and serving large models routinely consumes megawatt-scale power; even edge inference is hard under tight energy budgets.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SNNs: an event-driven alternative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Information flows as discrete spikes over time. Paired with neuromorphic hardware, computation skips inactive neurons — orders of magnitude lower energy.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2064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E56945"/>
                </a:solidFill>
                <a:latin typeface="Calibri"/>
              </a:defRPr>
            </a:pPr>
            <a:r>
              <a:t>But direct training is unstable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7784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Recent direct-training methods narrowed the accuracy gap, yet two persistent instabilities still hold SNNs back.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2103120"/>
            <a:ext cx="4023360" cy="40233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233172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THIS THESIS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74320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0">
                <a:solidFill>
                  <a:srgbClr val="FFFFFF"/>
                </a:solidFill>
                <a:latin typeface="Cambria"/>
              </a:defRPr>
            </a:pPr>
            <a:r>
              <a:t>Two instabilities,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154679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0">
                <a:solidFill>
                  <a:srgbClr val="FFFFFF"/>
                </a:solidFill>
                <a:latin typeface="Cambria"/>
              </a:defRPr>
            </a:pPr>
            <a:r>
              <a:t>two principled fixes.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3931920"/>
            <a:ext cx="36576" cy="7772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80" y="39319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①  Temporal Covariate Shift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4251959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CBD8E0"/>
                </a:solidFill>
                <a:latin typeface="Calibri"/>
              </a:defRPr>
            </a:pPr>
            <a:r>
              <a:t>in the membrane potential — invisible to existing remedies.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0" y="5029200"/>
            <a:ext cx="36576" cy="8686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80" y="50292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②  Gradient pathology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80" y="5349240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CBD8E0"/>
                </a:solidFill>
                <a:latin typeface="Calibri"/>
              </a:defRPr>
            </a:pPr>
            <a:r>
              <a:t>when the firing threshold becomes a learnable parameter — never explicitly characterized before.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BACKGROUND · 1/2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Spiking Neurons in 60 Seconds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Three discrete-time updates, plus one trick to get gradients through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Leaky Integrate-and-Fire neuron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74320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788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Integrate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78892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M[t] = (1−1/τ)·U[t−1]  +  (1/τ)·I_in[t]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3756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38327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Fire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383279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S[t] = H( M[t] − V_thr ) ∈ {0, 1}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93192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97763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Reset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977639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U[t] = M[t] − V_thr · S[t]   (soft reset)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52628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Two learnable parameters:  τ (leakage)  ·  V_thr (threshold).</a:t>
            </a:r>
          </a:p>
        </p:txBody>
      </p:sp>
      <p:pic>
        <p:nvPicPr>
          <p:cNvPr id="16" name="Picture 15" descr="lif_dyna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86000"/>
            <a:ext cx="5394960" cy="244459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800" y="461772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M[t] integrates inputs, fires at V_thr, resets — repeat.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98348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56945"/>
                </a:solidFill>
                <a:latin typeface="Calibri"/>
              </a:defRPr>
            </a:pPr>
            <a:r>
              <a:t>Heaviside H is not differentiable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534924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Surrogate gradient: backward pass uses smooth f'(x) ≈ H'(x).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669280"/>
            <a:ext cx="54864" cy="4114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64" y="5669280"/>
            <a:ext cx="11192256" cy="4114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806440"/>
            <a:ext cx="1078992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Everything in this thesis turns on M[t] and V_thr  ·  TCS at M[t]  ·  pathology at V_thr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BACKGROUND · 2/2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Diagnosis ①: TCS Lives in the Membrane Potential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What everyone notices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9748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Activation distributions drift across timesteps. Batch-norm statistics estimated</a:t>
            </a:r>
            <a:br/>
            <a:r>
              <a:t>at one timestep no longer fit at another — accuracy drops.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What existing fixes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51960"/>
            <a:ext cx="5943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TEBN, TAB add per-timestep BN parameters.</a:t>
            </a:r>
            <a:br/>
            <a:r>
              <a:t>More compute, more parameters — and they don't reach the cause.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486400"/>
            <a:ext cx="54864" cy="86868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5486400"/>
            <a:ext cx="5888736" cy="8686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623560"/>
            <a:ext cx="548640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56945"/>
                </a:solidFill>
                <a:latin typeface="Calibri"/>
              </a:defRPr>
            </a:pPr>
            <a:r>
              <a:t>Our claim</a:t>
            </a:r>
          </a:p>
          <a:p>
            <a:pPr>
              <a:spcBef>
                <a:spcPts val="600"/>
              </a:spcBef>
              <a:defRPr sz="1200">
                <a:solidFill>
                  <a:srgbClr val="FFFFFF"/>
                </a:solidFill>
                <a:latin typeface="Calibri"/>
              </a:defRPr>
            </a:pPr>
            <a:r>
              <a:t>TCS originates one level deeper — in M[t] itself.</a:t>
            </a:r>
          </a:p>
        </p:txBody>
      </p:sp>
      <p:pic>
        <p:nvPicPr>
          <p:cNvPr id="11" name="Picture 10" descr="density_plot_membrane_potential_td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194560"/>
            <a:ext cx="4937760" cy="24402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0" y="57607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E56945"/>
                </a:solidFill>
                <a:latin typeface="Calibri"/>
              </a:defRPr>
            </a:pPr>
            <a:r>
              <a:t>M[t] under tdBN — distribution clearly drifts as t grows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Diagnosis ②: Trainable V_thr Breaks the Gradient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PLIF, LTMD, DIET-SNN all let V_thr learn — but the surrogate gradient is scale-sensitive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349240" cy="2377440"/>
          </a:xfrm>
          <a:prstGeom prst="rect">
            <a:avLst/>
          </a:prstGeom>
          <a:solidFill>
            <a:srgbClr val="FAEEE0"/>
          </a:solidFill>
          <a:ln w="1524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V_thr ≪ 1   (small threshold)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4892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AS-SG floods — fixed window covers almost the entire distribution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RS-SG explodes — the 1/V_thr factor blows the magnitude up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Real example: at V_thr = 0.1, RS-SG diverges to NaN within 100 epochs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286000"/>
            <a:ext cx="5349240" cy="2377440"/>
          </a:xfrm>
          <a:prstGeom prst="rect">
            <a:avLst/>
          </a:prstGeom>
          <a:solidFill>
            <a:srgbClr val="FAEEE0"/>
          </a:solidFill>
          <a:ln w="1524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46888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V_thr ≫ 1   (large threshold)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926080"/>
            <a:ext cx="4892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AS-SG starves — fixed window covers a tiny tail of the distribution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RS-SG vanishes — the same 1/V_thr factor shrinks the magnitude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Real example: at V_thr = 2.0, AS-SG hits 0% active neurons by epoch 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937760"/>
            <a:ext cx="54864" cy="12801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64" y="4937760"/>
            <a:ext cx="11192256" cy="12801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074920"/>
            <a:ext cx="10789920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0B85F"/>
                </a:solidFill>
                <a:latin typeface="Calibri"/>
              </a:defRPr>
            </a:pPr>
            <a:r>
              <a:t>These are not corner cases.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Trainable V_thr in practice drifts well below 1 in early layers and above 2 in deep ones —</a:t>
            </a:r>
            <a:br/>
            <a:r>
              <a:t>exactly the regimes where AS-SG and RS-SG both fail. We'll quantify in Part II.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Does the Membrane Potential Drift?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Because it's a Markov chain pulled toward a unique distribution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2286000"/>
            <a:ext cx="652881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423160"/>
            <a:ext cx="612648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D7E7E"/>
                </a:solidFill>
                <a:latin typeface="Calibri"/>
              </a:defRPr>
            </a:pPr>
            <a:r>
              <a:t>The recurrence is a Markov chain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U[t+1] = f( U[t], I_in[t+1] ) — i.i.d. ⇒ Markov chain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108960"/>
            <a:ext cx="54864" cy="14630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3108960"/>
            <a:ext cx="6528816" cy="146304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6126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Theorem  (Doeblin minorization)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Under (i.i.d. inputs) + (bounded U[t]),</a:t>
            </a:r>
            <a:br/>
            <a:r>
              <a:t>the chain has a unique stationary π.  Moreover,</a:t>
            </a:r>
            <a:br/>
            <a:br/>
            <a:r>
              <a:t>‖ Pⁿ(x, ·) − π(·) ‖_TV   ≤   C · (1 − ε)ⁿ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5488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alibri"/>
              </a:defRPr>
            </a:pPr>
            <a:r>
              <a:t>Implications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20640"/>
            <a:ext cx="6583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Initial state ≠ π  ⇒  drift is inevitable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Standard U[0] = 0 is far from π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Don't fix BN — fix the initial state</a:t>
            </a:r>
          </a:p>
        </p:txBody>
      </p:sp>
      <p:pic>
        <p:nvPicPr>
          <p:cNvPr id="13" name="Picture 12" descr="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286000"/>
            <a:ext cx="4572000" cy="242887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15200" y="4937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Distribution of U[t] for t = 0, 1, 2, 3, 4, 5, 8, 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530352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Starting from U[0]=0 (sharp red), the distribution exponentially approaches the stationary π (dashed navy).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MP-Init — Initialize at the Stationary Mean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U[T] is the closest sample to π → use a running mean of E[U[T]]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Lemma — best constant is the mean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9748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2064" y="2697480"/>
            <a:ext cx="588873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54864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400">
                <a:solidFill>
                  <a:srgbClr val="1A1A1A"/>
                </a:solidFill>
                <a:latin typeface="Calibri"/>
              </a:defRPr>
            </a:pPr>
            <a:r>
              <a:t>argmin_c   E[ (π − c)² ]   =   E[π]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Practical estimator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2336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U[T] is the closest sample to π. Maintain a per-layer running mean</a:t>
            </a:r>
            <a:br/>
            <a:r>
              <a:t>μ ← β · μ  +  (1 − β) · mean( U[T] )    over training, β = 0.9.</a:t>
            </a:r>
            <a:br/>
            <a:r>
              <a:t>At every batch, set U[0] = 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2860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Algorithm  (training-only)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697480"/>
            <a:ext cx="4937760" cy="24688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278892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init  μ_l ← 0   for each layer l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for each batch: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U_l[0] ← μ_l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run T LIF steps as usual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m ← mean( U_l[T] of active neurons )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μ_l ← β · μ_l  +  (1 − β) · 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532120"/>
            <a:ext cx="54864" cy="8229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5532120"/>
            <a:ext cx="11192256" cy="82296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66928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Inference: μ frozen → standard LIF dynamics</a:t>
            </a:r>
          </a:p>
          <a:p>
            <a:pPr>
              <a:spcBef>
                <a:spcPts val="600"/>
              </a:spcBef>
              <a:defRPr sz="1100">
                <a:solidFill>
                  <a:srgbClr val="E0F0EA"/>
                </a:solidFill>
                <a:latin typeface="Calibri"/>
              </a:defRPr>
            </a:pPr>
            <a:r>
              <a:t>Zero changes to BN, no per-timestep parameters, full neuromorphic-hardware compatibility.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MP-Init Works — at Both the Distribution and the Metric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Membrane potential distributions across timesteps  (ResNet-19 / CIFAR-100)</a:t>
            </a:r>
          </a:p>
        </p:txBody>
      </p:sp>
      <p:pic>
        <p:nvPicPr>
          <p:cNvPr id="5" name="Picture 4" descr="density_plot_membrane_potential_td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60320"/>
            <a:ext cx="2697480" cy="1333081"/>
          </a:xfrm>
          <a:prstGeom prst="rect">
            <a:avLst/>
          </a:prstGeom>
        </p:spPr>
      </p:pic>
      <p:pic>
        <p:nvPicPr>
          <p:cNvPr id="6" name="Picture 5" descr="density_plot_membrane_potential_teb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560320"/>
            <a:ext cx="2697480" cy="1333081"/>
          </a:xfrm>
          <a:prstGeom prst="rect">
            <a:avLst/>
          </a:prstGeom>
        </p:spPr>
      </p:pic>
      <p:pic>
        <p:nvPicPr>
          <p:cNvPr id="7" name="Picture 6" descr="density_plot_membrane_potential_t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2560320"/>
            <a:ext cx="2697480" cy="1333081"/>
          </a:xfrm>
          <a:prstGeom prst="rect">
            <a:avLst/>
          </a:prstGeom>
        </p:spPr>
      </p:pic>
      <p:pic>
        <p:nvPicPr>
          <p:cNvPr id="8" name="Picture 7" descr="density_plot_membrane_potential_mpini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0" y="2560320"/>
            <a:ext cx="2697480" cy="13330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tdBN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TEBN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TAB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MP-Init (ours)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6634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Consistent accuracy gain on every baseline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029200"/>
            <a:ext cx="6583680" cy="14173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1206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Setting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51206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Baseline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51206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+ MP-Init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44068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CIFAR-100  ·  T=4  ·  tdBN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5440680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0" i="0">
                <a:solidFill>
                  <a:srgbClr val="7A7A7A"/>
                </a:solidFill>
                <a:latin typeface="Calibri"/>
              </a:defRPr>
            </a:pPr>
            <a:r>
              <a:t>75.55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5440680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76.09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678424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CIFAR-100  ·  T=4  ·  TEBN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5678424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0" i="0">
                <a:solidFill>
                  <a:srgbClr val="7A7A7A"/>
                </a:solidFill>
                <a:latin typeface="Calibri"/>
              </a:defRPr>
            </a:pPr>
            <a:r>
              <a:t>75.96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5678424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76.45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91616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CIFAR-100  ·  T=4  ·  TAB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5916168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0" i="0">
                <a:solidFill>
                  <a:srgbClr val="7A7A7A"/>
                </a:solidFill>
                <a:latin typeface="Calibri"/>
              </a:defRPr>
            </a:pPr>
            <a:r>
              <a:t>76.25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5916168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77.24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15391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DVS-CIFAR10  ·  T=10  ·  tdBN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6153912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0" i="0">
                <a:solidFill>
                  <a:srgbClr val="7A7A7A"/>
                </a:solidFill>
                <a:latin typeface="Calibri"/>
              </a:defRPr>
            </a:pPr>
            <a:r>
              <a:t>76.60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0" y="6153912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77.37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0" y="5029200"/>
            <a:ext cx="4434840" cy="1417320"/>
          </a:xfrm>
          <a:prstGeom prst="rect">
            <a:avLst/>
          </a:prstGeom>
          <a:solidFill>
            <a:srgbClr val="FAEECB"/>
          </a:solidFill>
          <a:ln w="1524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43800" y="5166360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 i="0">
                <a:solidFill>
                  <a:srgbClr val="0F2540"/>
                </a:solidFill>
                <a:latin typeface="Cambria"/>
              </a:defRPr>
            </a:pPr>
            <a:r>
              <a:t>+1.66 %pt at T = 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43800" y="5715000"/>
            <a:ext cx="4114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Biggest gain in the most latency-critical regime —</a:t>
            </a:r>
            <a:br/>
            <a:r>
              <a:t>exactly where SNN energy efficiency matters.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MP-Init Works — A Closer 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Aligning distributions aligns gradients — and improves the firing-rate frontier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Gradient cosine similarity across timesteps</a:t>
            </a:r>
          </a:p>
        </p:txBody>
      </p:sp>
      <p:pic>
        <p:nvPicPr>
          <p:cNvPr id="6" name="Picture 5" descr="grad_coll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2456" y="2606040"/>
            <a:ext cx="3683097" cy="1828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526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ResNet-19 · CIFAR-100 · 4 timesteps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4632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Without MP-Init: gradients at t=1 conflict with later steps (cos 0.07–0.18)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With MP-Init: temporal ensemble realigned (cos ≈ 0.5)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Stable optimization — not just stable inference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Accuracy vs. firing rate  (Pareto frontier)</a:t>
            </a:r>
          </a:p>
        </p:txBody>
      </p:sp>
      <p:pic>
        <p:nvPicPr>
          <p:cNvPr id="10" name="Picture 9" descr="firing_rate_vs_accur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606040"/>
            <a:ext cx="5219395" cy="1828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3640" y="4526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ResNet-19 · CIFAR-100 with sparsity regularizer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484632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MP-Init dominates baseline at every firing rate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Even at 6% firing rate, beats all baseline settings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Gains come from spiking BETTER, not spiking MORE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080760"/>
            <a:ext cx="54864" cy="4114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6080760"/>
            <a:ext cx="11192256" cy="4114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217920"/>
            <a:ext cx="1078992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Higher accuracy from stabler training — efficiency-preserving improvements, not accuracy-via-spend.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Two Surrogate-Gradient Families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AS-SG and RS-SG — look similar, behave very differently when V_thr is trainable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94560"/>
            <a:ext cx="54864" cy="50292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2194560"/>
            <a:ext cx="11192256" cy="50292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10789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2540"/>
                </a:solidFill>
                <a:latin typeface="Calibri"/>
              </a:defRPr>
            </a:pPr>
            <a:r>
              <a:t>Recap — Surrogate Gradient: replace H'(x) with smooth f'(x).  Choice of x differs below.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880360"/>
            <a:ext cx="4754880" cy="150876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97180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AS-SG  ·  Absolute-Scale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3756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 i="0">
                <a:solidFill>
                  <a:srgbClr val="0F2540"/>
                </a:solidFill>
                <a:latin typeface="Cambria Math"/>
              </a:defRPr>
            </a:pPr>
            <a:r>
              <a:t>x = M[t] − V_thr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3192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E56945"/>
                </a:solidFill>
                <a:latin typeface="Calibri"/>
              </a:defRPr>
            </a:pPr>
            <a:r>
              <a:t>Window of FIXED width γ, centered at V_thr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526280"/>
            <a:ext cx="4754880" cy="150876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1772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RS-SG  ·  Relative-Scale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98348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 i="0">
                <a:solidFill>
                  <a:srgbClr val="0F2540"/>
                </a:solidFill>
                <a:latin typeface="Cambria Math"/>
              </a:defRPr>
            </a:pPr>
            <a:r>
              <a:t>x = M[t] / V_thr − 1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57784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E0B85F"/>
                </a:solidFill>
                <a:latin typeface="Calibri"/>
              </a:defRPr>
            </a:pPr>
            <a:r>
              <a:t>Window SCALES with V_thr — but magnitude / V_thr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28803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Gradient-window vs membrane distribution</a:t>
            </a:r>
          </a:p>
        </p:txBody>
      </p:sp>
      <p:pic>
        <p:nvPicPr>
          <p:cNvPr id="17" name="Picture 16" descr="sg_wind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3200400"/>
            <a:ext cx="6400800" cy="2349661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57200" y="5989320"/>
            <a:ext cx="54864" cy="36576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064" y="598932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126480"/>
            <a:ext cx="1078992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Same when V_thr is fixed. Once V_thr trains, AS-SG and RS-SG break in opposite ways.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Four Failure Modes — and One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Both window width AND gradient magnitude must scale correctly with V_thr</a:t>
            </a:r>
          </a:p>
        </p:txBody>
      </p:sp>
      <p:pic>
        <p:nvPicPr>
          <p:cNvPr id="5" name="Picture 4" descr="second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602" y="1828800"/>
            <a:ext cx="2956490" cy="3383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230368"/>
            <a:ext cx="11247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1">
                <a:solidFill>
                  <a:srgbClr val="7A7A7A"/>
                </a:solidFill>
                <a:latin typeface="Calibri"/>
              </a:defRPr>
            </a:pPr>
            <a:r>
              <a:t>Each colored box = active gradient region.   width = window  ·  height = magnitude</a:t>
            </a:r>
          </a:p>
        </p:txBody>
      </p:sp>
      <p:sp>
        <p:nvSpPr>
          <p:cNvPr id="7" name="Rectangle 6"/>
          <p:cNvSpPr/>
          <p:nvPr/>
        </p:nvSpPr>
        <p:spPr>
          <a:xfrm>
            <a:off x="371703" y="5623560"/>
            <a:ext cx="2157984" cy="777240"/>
          </a:xfrm>
          <a:prstGeom prst="rect">
            <a:avLst/>
          </a:prstGeom>
          <a:solidFill>
            <a:srgbClr val="FAEEE0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3143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✗ Flooding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143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AS-SG · V_thr ≪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94279" y="5623560"/>
            <a:ext cx="2157984" cy="777240"/>
          </a:xfrm>
          <a:prstGeom prst="rect">
            <a:avLst/>
          </a:prstGeom>
          <a:solidFill>
            <a:srgbClr val="FAEEE0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5719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✗ Starvation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5719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AS-SG · V_thr ≫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16855" y="5623560"/>
            <a:ext cx="2157984" cy="777240"/>
          </a:xfrm>
          <a:prstGeom prst="rect">
            <a:avLst/>
          </a:prstGeom>
          <a:solidFill>
            <a:srgbClr val="FAEECB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08295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t>✗ Explosion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08295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RS-SG · V_thr ≪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39431" y="5623560"/>
            <a:ext cx="2157984" cy="777240"/>
          </a:xfrm>
          <a:prstGeom prst="rect">
            <a:avLst/>
          </a:prstGeom>
          <a:solidFill>
            <a:srgbClr val="FAEECB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0871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t>✗ Vanishing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30871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RS-SG · V_thr ≫ 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62007" y="5623560"/>
            <a:ext cx="2157984" cy="777240"/>
          </a:xfrm>
          <a:prstGeom prst="rect">
            <a:avLst/>
          </a:prstGeom>
          <a:solidFill>
            <a:srgbClr val="E5F5F0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53447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✓ Balanced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3447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0F2540"/>
                </a:solidFill>
                <a:latin typeface="Calibri"/>
              </a:defRPr>
            </a:pPr>
            <a:r>
              <a:t>TrSG · all regimes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TrSG — One-Line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Multiply the threshold on the forward path; chain rule cancels the bad factor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The recipe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788920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Relative-scale window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1A1A1A"/>
                </a:solidFill>
                <a:latin typeface="Cambria Math"/>
              </a:defRPr>
            </a:pPr>
            <a:r>
              <a:t>x = M / V_thr − 1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788920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Multiply on forward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1A1A1A"/>
                </a:solidFill>
                <a:latin typeface="Cambria Math"/>
              </a:defRPr>
            </a:pPr>
            <a:r>
              <a:t>O[t] = V_thr · S[t]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2788920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Chain rule cancels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1A1A1A"/>
                </a:solidFill>
                <a:latin typeface="Cambria Math"/>
              </a:defRPr>
            </a:pPr>
            <a:r>
              <a:t>∂O/∂M = f'(x)</a:t>
            </a:r>
          </a:p>
        </p:txBody>
      </p:sp>
      <p:pic>
        <p:nvPicPr>
          <p:cNvPr id="18" name="Picture 17" descr="chain_r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3931920"/>
            <a:ext cx="9418320" cy="2497643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457200" y="5852160"/>
            <a:ext cx="54864" cy="5486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64" y="5852160"/>
            <a:ext cx="11192256" cy="5486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98932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Window adapts with V_thr  ·  gradient magnitude is threshold-invariant.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Inference Stays Binary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TrSG is a training-only trick — neuromorphic hardware never sees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74320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2064" y="2743200"/>
            <a:ext cx="1119225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880360"/>
            <a:ext cx="1078992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Forward:    O[t]  =  V_thr · S[t]    (real-valued — gradient flows cleanly through V_thr)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At deployment, absorb V_thr into the next layer's weights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06908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4069080"/>
            <a:ext cx="1119225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206240"/>
            <a:ext cx="1078992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W'_{l→l+1}   =   V_thr  ·  W_{l→l+1}    (one-time rescaling)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0060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4800600"/>
            <a:ext cx="11192256" cy="64008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937760"/>
            <a:ext cx="1078992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0F2540"/>
                </a:solidFill>
                <a:latin typeface="Calibri"/>
              </a:defRPr>
            </a:pPr>
            <a:r>
              <a:t>Forward at test time:    O[t]  =  S[t]  ∈  {0, 1}      (standard LIF — back to binary spikes)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66928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5669280"/>
            <a:ext cx="11192256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806440"/>
            <a:ext cx="1078992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Standard LIF operators at inference. Hardware compatibility preserved.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TrSG Works — A Stable Gradient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Three stability metrics tell the same story across extreme V_thr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40280"/>
            <a:ext cx="3703320" cy="9601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31343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AbsStr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060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mbria Math"/>
              </a:defRPr>
            </a:pPr>
            <a:r>
              <a:t>mean |gradient|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89864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 i="1">
                <a:solidFill>
                  <a:srgbClr val="7A7A7A"/>
                </a:solidFill>
                <a:latin typeface="Calibri"/>
              </a:defRPr>
            </a:pPr>
            <a:r>
              <a:t>low → vanishing,   high → exploding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2240280"/>
            <a:ext cx="3703320" cy="9601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31343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RatioAG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6060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mbria Math"/>
              </a:defRPr>
            </a:pPr>
            <a:r>
              <a:t>% neurons with active gradient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89864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 i="1">
                <a:solidFill>
                  <a:srgbClr val="7A7A7A"/>
                </a:solidFill>
                <a:latin typeface="Calibri"/>
              </a:defRPr>
            </a:pPr>
            <a:r>
              <a:t>low → starvation,   high → flooding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2240280"/>
            <a:ext cx="3703320" cy="9601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231343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GradCV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80" y="26060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mbria Math"/>
              </a:defRPr>
            </a:pPr>
            <a:r>
              <a:t>std / mean of |gradient|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289864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 i="1">
                <a:solidFill>
                  <a:srgbClr val="7A7A7A"/>
                </a:solidFill>
                <a:latin typeface="Calibri"/>
              </a:defRPr>
            </a:pPr>
            <a:r>
              <a:t>high → unstable, hard-to-tune updates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38328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Stress-test metrics at epoch 100 — CIFAR-100, ResNet-19, τ=2.0 frozen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03320"/>
            <a:ext cx="5532120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703320"/>
            <a:ext cx="5532120" cy="384048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758183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V_thr = 0.1   (small threshold)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160520"/>
            <a:ext cx="5440680" cy="36576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215383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SG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4215383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AbsStr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4215383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RatioAG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4215383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GradCV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526280"/>
            <a:ext cx="5440680" cy="2286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66344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alibri"/>
              </a:defRPr>
            </a:pPr>
            <a:r>
              <a:t>AS-SG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0" y="466344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onsolas"/>
              </a:defRPr>
            </a:pPr>
            <a:r>
              <a:t>0.0145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0" y="466344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onsolas"/>
              </a:defRPr>
            </a:pPr>
            <a:r>
              <a:t>90.20%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0" y="466344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onsolas"/>
              </a:defRPr>
            </a:pPr>
            <a:r>
              <a:t>1.22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029200"/>
            <a:ext cx="5440680" cy="45720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512064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alibri"/>
              </a:defRPr>
            </a:pPr>
            <a:r>
              <a:t>RS-SG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20" y="512064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onsolas"/>
              </a:defRPr>
            </a:pPr>
            <a:r>
              <a:t>NaN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74720" y="512064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onsolas"/>
              </a:defRPr>
            </a:pPr>
            <a:r>
              <a:t>0.00%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46320" y="512064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onsolas"/>
              </a:defRPr>
            </a:pPr>
            <a:r>
              <a:t>NaN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557784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1D7E7E"/>
                </a:solidFill>
                <a:latin typeface="Calibri"/>
              </a:defRPr>
            </a:pPr>
            <a:r>
              <a:t>TrSG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03120" y="557784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1D7E7E"/>
                </a:solidFill>
                <a:latin typeface="Consolas"/>
              </a:defRPr>
            </a:pPr>
            <a:r>
              <a:t>0.0153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74720" y="557784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1D7E7E"/>
                </a:solidFill>
                <a:latin typeface="Consolas"/>
              </a:defRPr>
            </a:pPr>
            <a:r>
              <a:t>21.45%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46320" y="557784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1D7E7E"/>
                </a:solidFill>
                <a:latin typeface="Consolas"/>
              </a:defRPr>
            </a:pPr>
            <a:r>
              <a:t>0.87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99632" y="3703320"/>
            <a:ext cx="5532120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99632" y="3703320"/>
            <a:ext cx="5532120" cy="384048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82512" y="3758183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V_thr = 2.0   (large threshold)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45352" y="4160520"/>
            <a:ext cx="5440680" cy="36576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28232" y="4215383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SG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45552" y="4215383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AbsStr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17152" y="4215383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RatioAG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88752" y="4215383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GradCV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45352" y="4526280"/>
            <a:ext cx="5440680" cy="2286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28232" y="466344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alibri"/>
              </a:defRPr>
            </a:pPr>
            <a:r>
              <a:t>AS-SG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845552" y="466344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onsolas"/>
              </a:defRPr>
            </a:pPr>
            <a:r>
              <a:t>0.0000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17152" y="466344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onsolas"/>
              </a:defRPr>
            </a:pPr>
            <a:r>
              <a:t>0.00%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88752" y="466344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onsolas"/>
              </a:defRPr>
            </a:pPr>
            <a:r>
              <a:t>0.000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45352" y="5029200"/>
            <a:ext cx="5440680" cy="45720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28232" y="512064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alibri"/>
              </a:defRPr>
            </a:pPr>
            <a:r>
              <a:t>RS-SG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45552" y="512064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onsolas"/>
              </a:defRPr>
            </a:pPr>
            <a:r>
              <a:t>0.0021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17152" y="512064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onsolas"/>
              </a:defRPr>
            </a:pPr>
            <a:r>
              <a:t>0.10%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588752" y="512064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onsolas"/>
              </a:defRPr>
            </a:pPr>
            <a:r>
              <a:t>2.25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28232" y="557784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1D7E7E"/>
                </a:solidFill>
                <a:latin typeface="Calibri"/>
              </a:defRPr>
            </a:pPr>
            <a:r>
              <a:t>TrSG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845552" y="557784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1D7E7E"/>
                </a:solidFill>
                <a:latin typeface="Consolas"/>
              </a:defRPr>
            </a:pPr>
            <a:r>
              <a:t>0.0323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17152" y="557784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1D7E7E"/>
                </a:solidFill>
                <a:latin typeface="Consolas"/>
              </a:defRPr>
            </a:pPr>
            <a:r>
              <a:t>6.90%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88752" y="557784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1D7E7E"/>
                </a:solidFill>
                <a:latin typeface="Consolas"/>
              </a:defRPr>
            </a:pPr>
            <a:r>
              <a:t>0.73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" y="6126480"/>
            <a:ext cx="54864" cy="365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12064" y="612648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77240" y="6263640"/>
            <a:ext cx="1078992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TrSG keeps all three metrics in the healthy range — at every threshold.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TrSG Robust Across All V_thr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Direct accuracy evidence  +  real trainings actually visit the extreme regimes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Accuracy with V_thr frozen at varying values</a:t>
            </a:r>
          </a:p>
        </p:txBody>
      </p:sp>
      <p:pic>
        <p:nvPicPr>
          <p:cNvPr id="6" name="Picture 5" descr="no_training_a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60320"/>
            <a:ext cx="6126480" cy="24009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02920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CIFAR-100, ResNet-19, τ=2.0 frozen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1945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Trainable V_thr trajectories — ImageNet</a:t>
            </a:r>
          </a:p>
        </p:txBody>
      </p:sp>
      <p:pic>
        <p:nvPicPr>
          <p:cNvPr id="9" name="Picture 8" descr="threshold_training_image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2560320"/>
            <a:ext cx="5029200" cy="2286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66560" y="49377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ResNet-34 on ImageNet · 120 epochs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492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Frozen V_thr accuracy:  TrSG wins at every threshold; AS-SG/RS-SG fail outside V_thr ≈ 1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Real trainings drift V_thr ≪ 1 in early layers and ≫ 1 in deep layers — exactly the failure regimes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6080760"/>
            <a:ext cx="54864" cy="365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2064" y="608076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6217920"/>
            <a:ext cx="1078992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Threshold-robustness is a practical necessity, not a theoretical edge case.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1/3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Main Results — SOTA Across the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Standard LIF neurons · no AutoAugment / Cutout · three trials</a:t>
            </a:r>
          </a:p>
        </p:txBody>
      </p:sp>
      <p:pic>
        <p:nvPicPr>
          <p:cNvPr id="5" name="Picture 4" descr="main_results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94560"/>
            <a:ext cx="7772400" cy="324669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0" y="219456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237744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1D7E7E"/>
                </a:solidFill>
                <a:latin typeface="Cambria"/>
              </a:defRPr>
            </a:pPr>
            <a:r>
              <a:t>+1.09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248716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D7E7E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9718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CIFAR-100  ·  beats TAB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361188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379476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1D7E7E"/>
                </a:solidFill>
                <a:latin typeface="Cambria"/>
              </a:defRPr>
            </a:pPr>
            <a:r>
              <a:t>+0.64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390448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D7E7E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438912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ImageNet  ·  beats MPS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502920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52120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E0B85F"/>
                </a:solidFill>
                <a:latin typeface="Cambria"/>
              </a:defRPr>
            </a:pPr>
            <a:r>
              <a:t>+5.23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532180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E0B85F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580644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DVS-CIFAR10  ·  beats RMP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126480"/>
            <a:ext cx="54864" cy="365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064" y="612648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263640"/>
            <a:ext cx="1078992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Biggest gain on the most challenging (event-based) dataset — DVS-CIFAR10 +5.23 %pt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2/3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Ablation — Independent and Complementary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Each method helps alone; together they compound (especially on event-based data)</a:t>
            </a:r>
          </a:p>
        </p:txBody>
      </p:sp>
      <p:pic>
        <p:nvPicPr>
          <p:cNvPr id="5" name="Picture 4" descr="ablation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40280"/>
            <a:ext cx="9144000" cy="38196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22860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269748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29800" y="27889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MP-Init alone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306324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+0.5 ~ 0.8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92640" y="370332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29800" y="3794759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TrSG alone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29800" y="406908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mbria"/>
              </a:defRPr>
            </a:pPr>
            <a:r>
              <a:t>+1.6 ~ 4.2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92640" y="470916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0E5E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29800" y="48006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Both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507492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0E5E5E"/>
                </a:solidFill>
                <a:latin typeface="Cambria"/>
              </a:defRPr>
            </a:pPr>
            <a:r>
              <a:t>+2.1 ~ 4.8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989320"/>
            <a:ext cx="54864" cy="50292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5989320"/>
            <a:ext cx="11192256" cy="50292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6126480"/>
            <a:ext cx="10789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 two fixes are orthogonal — diagnoses aim at different components, not the same problem twice.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3/3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Beyond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Transformer SNNs · object detection · energy preserved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486400" cy="155448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423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Transformer SNN  (QKFormer, ImageNet, T=4)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889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Baseline 78.80    →    + ours 79.90    (+1.10 %pt)</a:t>
            </a:r>
            <a:br/>
            <a:r>
              <a:t>AS-SG    77.09    →    RS-SG  78.70    →    TrSG  79.90</a:t>
            </a:r>
            <a:br/>
            <a:r>
              <a:t>Drop-in SG swap on a state-of-the-art Transformer SNN.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286000"/>
            <a:ext cx="5486400" cy="155448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423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Object detection  (COCO-2017, EMS-ResNet10, T=3)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7889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mAP@0.5         0.291  →  0.305    (+0.014)</a:t>
            </a:r>
            <a:br/>
            <a:r>
              <a:t>mAP@0.5:0.95    0.138  →  0.147    (+0.009)</a:t>
            </a:r>
            <a:br/>
            <a:r>
              <a:t>First evidence the principles transfer beyond classification.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023360"/>
            <a:ext cx="5486400" cy="155448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1605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Energy at matched firing rate  (CIFAR-100)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2628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Baseline   1.57 mJ   ·   75.58 %</a:t>
            </a:r>
            <a:br/>
            <a:r>
              <a:t>+ MP-Init + TrSG    1.67 mJ   ·   77.68 %</a:t>
            </a:r>
            <a:br/>
            <a:r>
              <a:t>+2.10 %pt at +6 % energy — gains aren't from spiking more.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4023360"/>
            <a:ext cx="5486400" cy="155448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1605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All four surrogate shapes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52628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Rectangular · Triangular · Arctan · Sigmoid</a:t>
            </a:r>
            <a:br/>
            <a:r>
              <a:t>TrSG remains the best across initial V_thr, initial τ,</a:t>
            </a:r>
            <a:br/>
            <a:r>
              <a:t>and surrogate shape — never tied for second.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715000"/>
            <a:ext cx="54864" cy="68580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2064" y="5715000"/>
            <a:ext cx="11192256" cy="6858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8521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0B85F"/>
                </a:solidFill>
                <a:latin typeface="Calibri"/>
              </a:defRPr>
            </a:pPr>
            <a:r>
              <a:t>No architectural changes, no extra losses, no per-timestep parameters — just drop 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What This Talk Was About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94560"/>
            <a:ext cx="54864" cy="91440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2064" y="2194560"/>
            <a:ext cx="11192256" cy="9144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33172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0B85F"/>
                </a:solidFill>
                <a:latin typeface="Calibri"/>
              </a:defRPr>
            </a:pPr>
            <a:r>
              <a:t>Two long-standing instabilities of direct SNN training, traced and fixed.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Both fixes are minimal, principled, and preserve standard inference.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MP-Init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TCS originates in the membrane potential — fix the initial state.</a:t>
            </a:r>
            <a:br/>
            <a:br/>
            <a:r>
              <a:t>Per-layer running mean of U[T].</a:t>
            </a:r>
            <a:br/>
            <a:br/>
            <a:r>
              <a:t>Zero overhead, standard LIF inference.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mbria"/>
              </a:defRPr>
            </a:pPr>
            <a:r>
              <a:t>TrSG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Threshold-induced gradient pathology — fix it with one forward-path multiplication.</a:t>
            </a:r>
            <a:br/>
            <a:br/>
            <a:r>
              <a:t>Window adapts, magnitude is invariant.</a:t>
            </a:r>
            <a:br/>
            <a:br/>
            <a:r>
              <a:t>Standard LIF after training.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Validated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SOTA on CIFAR-10/100, ImageNet, DVS-CIFAR10.</a:t>
            </a:r>
            <a:br/>
            <a:br/>
            <a:r>
              <a:t>Generalizes to Transformer SNNs (QKFormer +1.10) and detection (COCO +0.014 mAP).</a:t>
            </a:r>
            <a:br/>
            <a:br/>
            <a:r>
              <a:t>All without architectural changes.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3716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828800" y="45720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 i="0">
                <a:solidFill>
                  <a:srgbClr val="FFFFFF"/>
                </a:solidFill>
                <a:latin typeface="Cambria"/>
              </a:defRPr>
            </a:pPr>
            <a:r>
              <a:t>Two instabilities, two principled fixes,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 i="0">
                <a:solidFill>
                  <a:srgbClr val="E0B85F"/>
                </a:solidFill>
                <a:latin typeface="Cambria"/>
              </a:defRPr>
            </a:pPr>
            <a:r>
              <a:t>one cohesive story.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576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77639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▸  Per-layer constant approximates π only at the mean — richer parameterizations are open.</a:t>
            </a:r>
            <a:br/>
            <a:r>
              <a:t>▸  Hardware with fixed neuron parameters needs quantization-aware adaptation.</a:t>
            </a:r>
            <a:br/>
            <a:r>
              <a:t>▸  i.i.d. assumption empirically supported, but tighter bounds welcome.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0749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FUTURE 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3949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▸  Hardware-aware adaptation:  Loihi, Akida, TrueNorth</a:t>
            </a:r>
            <a:br/>
            <a:r>
              <a:t>▸  Beyond LIF:  adaptive LIF, Izhikevich, foundation-scale SNNs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26364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37336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1">
                <a:solidFill>
                  <a:srgbClr val="E0B85F"/>
                </a:solidFill>
                <a:latin typeface="Cambria"/>
              </a:defRPr>
            </a:pPr>
            <a:r>
              <a:t>Thank you.   Questions?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9224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8095A8"/>
                </a:solidFill>
                <a:latin typeface="Calibri"/>
              </a:defRPr>
            </a:pPr>
            <a: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