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12648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548640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7492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612648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6126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09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74920"/>
            <a:ext cx="6400800" cy="12801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66359"/>
            <a:ext cx="6035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CIFAR-100, T=4   tdBN            75.55  →  76.09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TEBN            75.96  →  76.45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TAB             76.25  →  77.24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DVS-CIFAR10, T=10  tdBN          76.60  →  77.37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5074920"/>
            <a:ext cx="4572000" cy="128016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5669280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21792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stabler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 (SG)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Spike S = H(x) is non-differentiable.  In backward pass, replace H' with a smooth f'(x).  The choice of x is what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tdBN, TET, PLIF, LTMD,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Meng 2023, DIET-SNN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06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How the gradient window looks against the membrane-potential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4480560"/>
            <a:ext cx="3566160" cy="1309097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603504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03504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 Once V_thr trains, AS-SG breaks one way, RS-SG the opposite.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893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2194560"/>
          </a:xfrm>
          <a:prstGeom prst="rect">
            <a:avLst/>
          </a:prstGeom>
          <a:solidFill>
            <a:srgbClr val="F8F7F2"/>
          </a:solidFill>
          <a:ln w="1270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94759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160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 i="0">
                <a:solidFill>
                  <a:srgbClr val="1D7E7E"/>
                </a:solidFill>
                <a:latin typeface="Calibri"/>
              </a:defRPr>
            </a:pPr>
            <a:r>
              <a:t>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160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 i="0">
                <a:solidFill>
                  <a:srgbClr val="1D7E7E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160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 i="0">
                <a:solidFill>
                  <a:srgbClr val="1D7E7E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160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 i="0">
                <a:solidFill>
                  <a:srgbClr val="1D7E7E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48055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AS-SG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48055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0.0145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448055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90.20%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48055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1.22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8920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RS-SG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NaN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0.00%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03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TrSG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303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D7E7E"/>
                </a:solidFill>
                <a:latin typeface="Consolas"/>
              </a:defRPr>
            </a:pPr>
            <a:r>
              <a:t>0.0153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5303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D7E7E"/>
                </a:solidFill>
                <a:latin typeface="Consolas"/>
              </a:defRPr>
            </a:pPr>
            <a:r>
              <a:t>21.45%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5303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D7E7E"/>
                </a:solidFill>
                <a:latin typeface="Consolas"/>
              </a:defRPr>
            </a:pPr>
            <a:r>
              <a:t>0.87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3703320"/>
            <a:ext cx="5532120" cy="2194560"/>
          </a:xfrm>
          <a:prstGeom prst="rect">
            <a:avLst/>
          </a:prstGeom>
          <a:solidFill>
            <a:srgbClr val="F8F7F2"/>
          </a:solidFill>
          <a:ln w="1270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2512" y="3794759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16952" y="4160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 i="0">
                <a:solidFill>
                  <a:srgbClr val="1D7E7E"/>
                </a:solidFill>
                <a:latin typeface="Calibri"/>
              </a:defRPr>
            </a:pPr>
            <a:r>
              <a:t>SG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4160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 i="0">
                <a:solidFill>
                  <a:srgbClr val="1D7E7E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31552" y="4160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 i="0">
                <a:solidFill>
                  <a:srgbClr val="1D7E7E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37392" y="4160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 i="0">
                <a:solidFill>
                  <a:srgbClr val="1D7E7E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2512" y="448055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AS-SG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99832" y="448055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0.0000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552" y="448055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0.00%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77272" y="448055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0.000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2512" y="48920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RS-SG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99832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0.0021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88552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0.10%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77272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E56945"/>
                </a:solidFill>
                <a:latin typeface="Consolas"/>
              </a:defRPr>
            </a:pPr>
            <a:r>
              <a:t>2.25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2512" y="5303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TrSG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99832" y="5303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D7E7E"/>
                </a:solidFill>
                <a:latin typeface="Consolas"/>
              </a:defRPr>
            </a:pPr>
            <a:r>
              <a:t>0.0323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88552" y="5303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D7E7E"/>
                </a:solidFill>
                <a:latin typeface="Consolas"/>
              </a:defRPr>
            </a:pPr>
            <a:r>
              <a:t>6.90%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77272" y="5303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D7E7E"/>
                </a:solidFill>
                <a:latin typeface="Consolas"/>
              </a:defRPr>
            </a:pPr>
            <a:r>
              <a:t>0.73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009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21792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