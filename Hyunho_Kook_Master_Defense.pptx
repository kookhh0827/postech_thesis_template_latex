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Enhancing Stability in Direct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of Spiking Neural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 i="1">
                <a:solidFill>
                  <a:srgbClr val="E0B85F"/>
                </a:solidFill>
                <a:latin typeface="Cambria"/>
              </a:defRPr>
            </a:pPr>
            <a:r>
              <a:t>Membrane Potential Initialization &amp; Threshold-Robust Surrogate Gradients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Hyunho Kook  (국 현 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Committee: Prof. Jungseul Ok · Prof. Jae-Joon 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Department of Computer Science and Engineering · POSTECH ·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DNNs are powerful but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Training and serving large models routinely consumes megawatt-scale power; even edge inference is hard under tight energy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SNNs: an event-driven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Information flows as discrete spikes over time. Paired with neuromorphic hardware, computation skips inactive neurons — orders of magnitude lower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E56945"/>
                </a:solidFill>
                <a:latin typeface="Calibri"/>
              </a:defRPr>
            </a:pPr>
            <a:r>
              <a:t>But direct training is unstable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Recent direct-training methods narrowed the accuracy gap, yet two persistent instabilities still hold SNNs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783080"/>
            <a:ext cx="4023360" cy="4206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0116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THIS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42316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instabilities,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834639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principled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611880"/>
            <a:ext cx="36576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36118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①  Temporal Covariate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393192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in the membrane potential — invisible to existing remedies.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4709160"/>
            <a:ext cx="36576" cy="8686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47091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②  Gradient pathology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02920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when the firing threshold becomes a learnable parameter — never explicitly characterized before.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Spiking Neurons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discrete-time updates, plus one trick to get gradients through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Leaky Integrate-and-Fire neuron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Integrate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M[t] = (1−1/τ)·U[t−1]  +  (1/τ)·I_in[t]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8327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S[t] = H( M[t] − V_thr ) ∈ {0, 1}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7763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U[t] = M[t] − V_thr · S[t]   (soft reset)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Two learnable parameters:  τ (leakage)  ·  V_thr (threshold).</a:t>
            </a:r>
          </a:p>
        </p:txBody>
      </p:sp>
      <p:pic>
        <p:nvPicPr>
          <p:cNvPr id="16" name="Picture 15" descr="lif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94960" cy="24445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M[t] integrates inputs, fires at V_thr, resets —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9834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Heaviside H is not differentiable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Surrogate gradient: backward pass uses smooth f'(x) ≈ H'(x).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66928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66928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Everything in this thesis turns on M[t] and V_thr  ·  TCS at M[t]  ·  pathology at V_thr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Surrogate Gradient — Training Through the Spike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Spikes are non-differentiable; smooth surrogates re-open backprop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5486400" cy="233172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0F2540"/>
                </a:solidFill>
                <a:latin typeface="Cambria Math"/>
              </a:defRPr>
            </a:pPr>
            <a:r>
              <a:t>Forward:   S = H( M − V_thr )  ∈  {0, 1}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E56945"/>
                </a:solidFill>
                <a:latin typeface="Cambria Math"/>
              </a:defRPr>
            </a:pPr>
            <a:r>
              <a:t>Backward:   ∂S / ∂M  =  δ( M − V_thr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Heaviside has zero gradient almost everywhere, with a delta</a:t>
            </a:r>
            <a:br/>
            <a:r>
              <a:t>spike exactly at threshold — gradient information cannot flow.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240280"/>
            <a:ext cx="5486400" cy="233172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1D7E7E"/>
                </a:solidFill>
                <a:latin typeface="Calibri"/>
              </a:defRPr>
            </a:pPr>
            <a:r>
              <a:t>The fix:  surrogate gradient  (SG)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7432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Forward unchanged.   In backward, replace δ with smooth f'( x 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246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D7E7E"/>
                </a:solidFill>
                <a:latin typeface="Cambria Math"/>
              </a:defRPr>
            </a:pPr>
            <a:r>
              <a:t>∂S / ∂M  ≈  f'( x ),    | x | &lt; γ/2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8404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f' is peak-normalized (max = 1), supported on a window of</a:t>
            </a:r>
            <a:br/>
            <a:r>
              <a:t>width γ around 0.   Forward stays binary; gradient flows.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548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Common shapes  ·  same window, different curve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1663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▸  Rectangular   ▸  Triangular   ▸  Arctan   ▸  Sigmoid</a:t>
            </a:r>
            <a:br/>
            <a:br/>
            <a:r>
              <a:t>Shape matters less than scale — TrSG works across all four.</a:t>
            </a:r>
            <a:br/>
            <a:r>
              <a:t>γ controls the active window WIDTH; height is set by the chain rule.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54880"/>
            <a:ext cx="54864" cy="14173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18503" y="4754880"/>
            <a:ext cx="5431536" cy="141732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4800600"/>
            <a:ext cx="502920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Two natural choices for x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x = M − V_thr  →  AS-SG  (Absolute scale)</a:t>
            </a:r>
            <a:br/>
            <a:r>
              <a:t>x = M / V_thr − 1  →  RS-SG  (Relative scale)</a:t>
            </a:r>
            <a:br/>
            <a:br/>
            <a:r>
              <a:t>Same SG curve, two ways to plug in V_thr → analyzed in Part II.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①: TCS Lives in the Membrane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everyone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Activation distributions drift across timesteps. Batch-norm statistics estimated</a:t>
            </a:r>
            <a:br/>
            <a:r>
              <a:t>at one timestep no longer fit at another — accuracy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existing fixes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TEBN, TAB add per-timestep BN parameters.</a:t>
            </a:r>
            <a:br/>
            <a:r>
              <a:t>More compute, more parameters — and they don't reach the cause.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54864" cy="8686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888736" cy="8686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486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56945"/>
                </a:solidFill>
                <a:latin typeface="Calibri"/>
              </a:defRPr>
            </a:pPr>
            <a:r>
              <a:t>Our claim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TCS originates one level deeper — in M[t] itself.</a:t>
            </a:r>
          </a:p>
        </p:txBody>
      </p:sp>
      <p:pic>
        <p:nvPicPr>
          <p:cNvPr id="11" name="Picture 10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937760" cy="2440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4617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E56945"/>
                </a:solidFill>
                <a:latin typeface="Calibri"/>
              </a:defRPr>
            </a:pPr>
            <a:r>
              <a:t>M[t] under tdBN — distribution clearly drifts as t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②: Trainable V_thr Breaks the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PLIF, LTMD, DIET-SNN all let V_thr learn — but the surrogate gradient is scale-sensitive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≪ 1   (small threshold)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AS-SG floods — fixed window covers almost the entire distribution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RS-SG explodes — the 1/V_thr factor blows the magnitude up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example: at V_thr = 0.1, RS-SG diverges to NaN within 100 epochs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≫ 1   (large threshold)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AS-SG starves — fixed window covers a tiny tail of the distribution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RS-SG vanishes — the same 1/V_thr factor shrinks the magnitude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example: at V_thr = 2.0, AS-SG hits 0% active neurons by epoch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493776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10789920" cy="11887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These are not corner cases.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Trainable V_thr in practice drifts well below 1 in early layers and above 2 in deep ones —</a:t>
            </a:r>
            <a:br/>
            <a:r>
              <a:t>exactly the regimes where AS-SG and RS-SG both fail. We'll quantify in Part 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Does the Membrane Potential Drift?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Because it's a Markov chain pulled toward a unique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286000"/>
            <a:ext cx="652881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6126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The recurrence is a Markov chain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U[t+1] = f( U[t], I_in[t+1] ) — Markov by construction;  i.i.d. inputs ⇒ time-homogeneous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54864" cy="14630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3108960"/>
            <a:ext cx="6528816" cy="14630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54679"/>
            <a:ext cx="61264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Theorem  (Doeblin minorization)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Under (i.i.d. inputs) + (bounded U[t]),</a:t>
            </a:r>
            <a:br/>
            <a:r>
              <a:t>the chain has a unique stationary π.  Moreover,</a:t>
            </a:r>
            <a:br/>
            <a:br/>
            <a:r>
              <a:t>‖ Pⁿ(x, ·) − π(·) ‖_TV   ≤   C · (1 − ε)ⁿ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064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Initial state ≠ π  ⇒  drift is inevitable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Standard U[0] = 0 is far from π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Don't fix BN — fix the initial state</a:t>
            </a:r>
          </a:p>
        </p:txBody>
      </p:sp>
      <p:pic>
        <p:nvPicPr>
          <p:cNvPr id="13" name="Picture 12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4572000" cy="2428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Distribution of U[t] for t = 0, 1, 2, 3, 4, 5, 8,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3035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Starting from U[0]=0 (sharp red), the distribution exponentially approaches the stationary π (dashed navy).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— Initialize at the Stationary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U[T] is the closest sample to π → use a running mean of E[U[T]]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Lemma — best constant is the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97480"/>
            <a:ext cx="588873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argmin_c   E[ (π − c)² ]   =   E[π]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Practical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U[T] is the closest sample to π. Maintain a per-layer running mean</a:t>
            </a:r>
            <a:br/>
            <a:r>
              <a:t>μ ← β · μ  +  (1 − β) · mean( U[T] )    over training, β = 0.9.</a:t>
            </a:r>
            <a:br/>
            <a:r>
              <a:t>At every batch, set U[0] = 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Algorithm  (training-only)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4937760" cy="27432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U_l[0] ← μ_l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run T LIF steps as usual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m ← mean( U_l[T] of active neurons )</a:t>
            </a:r>
          </a:p>
          <a:p>
            <a:pPr>
              <a:defRPr sz="1250">
                <a:solidFill>
                  <a:srgbClr val="FFFFFF"/>
                </a:solidFill>
                <a:latin typeface="Consolas"/>
              </a:defRPr>
            </a:pPr>
            <a:r>
              <a:t>    μ_l ← β · μ_l  +  (1 − β) ·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532120"/>
            <a:ext cx="11192256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10789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Inference: μ frozen → standard LIF dynamics</a:t>
            </a:r>
          </a:p>
          <a:p>
            <a:pPr>
              <a:spcBef>
                <a:spcPts val="600"/>
              </a:spcBef>
              <a:defRPr sz="1100">
                <a:solidFill>
                  <a:srgbClr val="E0F0EA"/>
                </a:solidFill>
                <a:latin typeface="Calibri"/>
              </a:defRPr>
            </a:pPr>
            <a:r>
              <a:t>Zero changes to BN, no per-timestep parameters, full neuromorphic-hardware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Works — in Both Distribution and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Membrane potential distributions across timesteps  (ResNet-19 / CIFAR-100)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2697480" cy="1333081"/>
          </a:xfrm>
          <a:prstGeom prst="rect">
            <a:avLst/>
          </a:prstGeom>
        </p:spPr>
      </p:pic>
      <p:pic>
        <p:nvPicPr>
          <p:cNvPr id="6" name="Picture 5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60320"/>
            <a:ext cx="2697480" cy="1333081"/>
          </a:xfrm>
          <a:prstGeom prst="rect">
            <a:avLst/>
          </a:prstGeom>
        </p:spPr>
      </p:pic>
      <p:pic>
        <p:nvPicPr>
          <p:cNvPr id="7" name="Picture 6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560320"/>
            <a:ext cx="2697480" cy="1333081"/>
          </a:xfrm>
          <a:prstGeom prst="rect">
            <a:avLst/>
          </a:prstGeom>
        </p:spPr>
      </p:pic>
      <p:pic>
        <p:nvPicPr>
          <p:cNvPr id="8" name="Picture 7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560320"/>
            <a:ext cx="2697480" cy="13330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tdBN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TEBN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0" i="0">
                <a:solidFill>
                  <a:srgbClr val="7A7A7A"/>
                </a:solidFill>
                <a:latin typeface="Calibri"/>
              </a:defRPr>
            </a:pPr>
            <a:r>
              <a:t>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26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Consistent accuracy gain on every baseline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4846320"/>
          <a:ext cx="6583680" cy="1412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371600"/>
              </a:tblGrid>
              <a:tr h="292608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Setting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+ MP-Init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T=2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72.35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74.01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tdBN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75.55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76.09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TEBN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75.96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76.45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TAB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76.25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77.24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DVS-CIFAR10  ·  T=10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76.60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77.37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0" y="4846320"/>
            <a:ext cx="4434840" cy="1417320"/>
          </a:xfrm>
          <a:prstGeom prst="rect">
            <a:avLst/>
          </a:prstGeom>
          <a:solidFill>
            <a:srgbClr val="FAEECB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0" y="49834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 i="0">
                <a:solidFill>
                  <a:srgbClr val="0F2540"/>
                </a:solidFill>
                <a:latin typeface="Cambria"/>
              </a:defRPr>
            </a:pPr>
            <a:r>
              <a:t>+1.66 %pt at T =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5532120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Biggest gain in the most latency-critical regime —</a:t>
            </a:r>
            <a:br/>
            <a:r>
              <a:t>exactly where SNN energy efficiency matters.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MP-Init Works — 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Aligning distributions aligns gradients — and improves the firing-rate 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Gradient cosine similarity across timesteps</a:t>
            </a:r>
          </a:p>
        </p:txBody>
      </p:sp>
      <p:pic>
        <p:nvPicPr>
          <p:cNvPr id="6" name="Picture 5" descr="grad_coll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456" y="2606040"/>
            <a:ext cx="3683097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ResNet-19 · CIFAR-100 · 4 timesteps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Without MP-Init: gradients at t=1 conflict with later steps (cos 0.07–0.18)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With MP-Init: temporal ensemble realigned (cos ≈ 0.5)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Stable optimization — not just stable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Accuracy vs. firing rate  (Pareto frontier)</a:t>
            </a:r>
          </a:p>
        </p:txBody>
      </p:sp>
      <p:pic>
        <p:nvPicPr>
          <p:cNvPr id="10" name="Picture 9" descr="firing_rate_v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219395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ResNet-19 · CIFAR-100 with sparsity regularizer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MP-Init dominates baseline at every firing rate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Even at 6% firing rate, beats all baseline settings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Gains come from spiking BETTER, not spiking MORE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08076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080760"/>
            <a:ext cx="11192256" cy="4114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12648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Higher accuracy from more stable training — efficiency-preserving improvements, not accuracy-via-spend.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AS-SG and RS-SG — look similar, behave very differently when V_thr is trainable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54864" cy="5943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194560"/>
            <a:ext cx="11192256" cy="5943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79"/>
            <a:ext cx="10789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0F2540"/>
                </a:solidFill>
                <a:latin typeface="Calibri"/>
              </a:defRPr>
            </a:pPr>
            <a:r>
              <a:t>∂S/∂M ≈ f'(x)   ·   rectangular f' = 1 on | x | &lt; γ/2  (peak-normalized)   ·   γ = active window width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71800"/>
            <a:ext cx="4754880" cy="137160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03580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AS-SG  ·  Absolute-Scale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− V_thr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319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1">
                <a:solidFill>
                  <a:srgbClr val="E56945"/>
                </a:solidFill>
                <a:latin typeface="Calibri"/>
              </a:defRPr>
            </a:pPr>
            <a:r>
              <a:t>Window of FIXED width γ, centered at V_thr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80560"/>
            <a:ext cx="4754880" cy="137160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54456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RS-SG  ·  Relative-Scale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/ V_thr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406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1">
                <a:solidFill>
                  <a:srgbClr val="E0B85F"/>
                </a:solidFill>
                <a:latin typeface="Calibri"/>
              </a:defRPr>
            </a:pPr>
            <a:r>
              <a:t>Window SCALES with V_thr — but magnitude / V_thr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2971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Gradient-window vs membrane distribution</a:t>
            </a:r>
          </a:p>
        </p:txBody>
      </p:sp>
      <p:pic>
        <p:nvPicPr>
          <p:cNvPr id="17" name="Picture 16" descr="sg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3291840"/>
            <a:ext cx="6400800" cy="2487399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5989320"/>
            <a:ext cx="54864" cy="36576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598932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03504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Same when V_thr is fixed. Once V_thr trains, AS-SG and RS-SG break in opposite ways.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Four Failure Modes — and One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Both window width AND gradient magnitude must scale correctly with V_thr</a:t>
            </a:r>
          </a:p>
        </p:txBody>
      </p:sp>
      <p:pic>
        <p:nvPicPr>
          <p:cNvPr id="5" name="Picture 4" descr="second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7744" y="1783080"/>
            <a:ext cx="3196206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58968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Each colored box = active gradient region.   width = window  ·  height = magnitude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1703" y="5760720"/>
            <a:ext cx="2157984" cy="68580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143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Flood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143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≪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4279" y="5760720"/>
            <a:ext cx="2157984" cy="68580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Starvation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5719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≫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6855" y="5760720"/>
            <a:ext cx="2157984" cy="68580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8295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Explosion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8295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≪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9431" y="5760720"/>
            <a:ext cx="2157984" cy="68580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0871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Vanishing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0871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≫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2007" y="5760720"/>
            <a:ext cx="2157984" cy="68580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3447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✓ Balanced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447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0F2540"/>
                </a:solidFill>
                <a:latin typeface="Calibri"/>
              </a:defRPr>
            </a:pPr>
            <a:r>
              <a:t>TrSG · all regimes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—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Multiply the threshold on the forward path; chain rule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The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7063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Relative-scale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 i="0">
                <a:solidFill>
                  <a:srgbClr val="1A1A1A"/>
                </a:solidFill>
                <a:latin typeface="Cambria Math"/>
              </a:defRPr>
            </a:pPr>
            <a:r>
              <a:t>x = M / V_thr − 1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7063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Multiply on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 i="0">
                <a:solidFill>
                  <a:srgbClr val="1A1A1A"/>
                </a:solidFill>
                <a:latin typeface="Cambria Math"/>
              </a:defRPr>
            </a:pPr>
            <a:r>
              <a:t>O[t] = V_thr · S[t]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77063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Chain rule cancels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 i="0">
                <a:solidFill>
                  <a:srgbClr val="1A1A1A"/>
                </a:solidFill>
                <a:latin typeface="Cambria Math"/>
              </a:defRPr>
            </a:pPr>
            <a:r>
              <a:t>∂O/∂M = f'(x)</a:t>
            </a:r>
          </a:p>
        </p:txBody>
      </p:sp>
      <p:pic>
        <p:nvPicPr>
          <p:cNvPr id="18" name="Picture 17" descr="chai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931920"/>
            <a:ext cx="9418320" cy="2497643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852160"/>
            <a:ext cx="54864" cy="5486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5852160"/>
            <a:ext cx="11192256" cy="5486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897880"/>
            <a:ext cx="10789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Window adapts with V_thr  ·  gradient magnitude is threshold-invariant.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TrSG is a training-only trick — neuromorphic hardware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74320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Forward:    O[t]  =  V_thr · S[t]    (real-valued — gradient flows cleanly through V_thr)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At deployment, absorb V_thr into the next layer's weights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406908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148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W'_{l→l+1}   =   V_thr^l  ·  W_{l→l+1}    (one-time rescaling per layer)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4800600"/>
            <a:ext cx="11192256" cy="64008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0F2540"/>
                </a:solidFill>
                <a:latin typeface="Calibri"/>
              </a:defRPr>
            </a:pPr>
            <a:r>
              <a:t>Forward at test time:    O[t]  =  S[t]  ∈  {0, 1}      (standard LIF — back to binary spikes)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669280"/>
            <a:ext cx="11192256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7150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LIF operators at inference. Hardware compatibility preserved.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TrSG Works — A Stable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stability metrics tell the same story across extreme V_thr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mean |gradient|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low → vanishing,   high → exploding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% neurons with active gradient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low → starvation,   high → flooding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std / mean of |gradient|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high → unstable, hard-to-tune updates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832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Stress-test metrics at epoch 100 — CIFAR-100, ResNet-19, τ=2.0 frozen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0.1   (small threshold)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0.0145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90.20%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1.22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0.0153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21.45%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0.87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6199632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2.0   (large threshold)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199632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0.0021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0.10%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2.25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0.0323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6.90%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0.73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457200" y="598932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" y="598932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603504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TrSG keeps all three metrics in the healthy range — at every threshold.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Robust Across All V_thr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Direct accuracy evidence  +  real trainings actually visit the extreme regimes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Accuracy with V_thr frozen at varying values</a:t>
            </a:r>
          </a:p>
        </p:txBody>
      </p:sp>
      <p:pic>
        <p:nvPicPr>
          <p:cNvPr id="6" name="Picture 5" descr="no_training_a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6126480" cy="2468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CIFAR-100, ResNet-19, τ=2.0 frozen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Trainable V_thr trajectories — ImageNet</a:t>
            </a:r>
          </a:p>
        </p:txBody>
      </p:sp>
      <p:pic>
        <p:nvPicPr>
          <p:cNvPr id="9" name="Picture 8" descr="threshold_training_image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560320"/>
            <a:ext cx="502920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5074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0" i="1">
                <a:solidFill>
                  <a:srgbClr val="7A7A7A"/>
                </a:solidFill>
                <a:latin typeface="Calibri"/>
              </a:defRPr>
            </a:pPr>
            <a:r>
              <a:t>ResNet-34 on ImageNet · 120 epochs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1A"/>
                </a:solidFill>
                <a:latin typeface="Calibri"/>
              </a:defRPr>
            </a:pPr>
            <a:r>
              <a:t>▸  Frozen V_thr accuracy:  TrSG wins at every threshold; AS-SG/RS-SG fail outside V_thr ≈ 1</a:t>
            </a:r>
          </a:p>
          <a:p>
            <a:pPr>
              <a:spcBef>
                <a:spcPts val="60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▸  Real trainings drift V_thr ≪ 1 in early layers and ≫ 1 in deep layers — exactly the failure regimes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08076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608076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12648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Threshold-robustness is a practical necessity, not a theoretical edge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Main Results — SOTA Across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Standard LIF neurons · no AutoAugment / Cutout · three trials</a:t>
            </a:r>
          </a:p>
        </p:txBody>
      </p:sp>
      <p:pic>
        <p:nvPicPr>
          <p:cNvPr id="5" name="Picture 4" descr="main_results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772400" cy="3246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2377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+1.09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24871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718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CIFAR-100  ·  beats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61188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7947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+0.64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390448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389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ImageNet  ·  beats MPS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02920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E0B85F"/>
                </a:solidFill>
                <a:latin typeface="Cambria"/>
              </a:defRPr>
            </a:pPr>
            <a:r>
              <a:t>+5.23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53218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E0B85F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8064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DVS-CIFAR10  ·  beats RMP-Loss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17220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Biggest gain on the most challenging (event-based) dataset — DVS-CIFAR10 +5.23 %pt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Ablation — Independent and Complementary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Each method helps alone; gains stack additively (largest combined effect on event-based data)</a:t>
            </a:r>
          </a:p>
        </p:txBody>
      </p:sp>
      <p:pic>
        <p:nvPicPr>
          <p:cNvPr id="5" name="Picture 4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40280"/>
            <a:ext cx="9144000" cy="38196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269748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29800" y="278892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MP-Init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308152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0">
                <a:solidFill>
                  <a:srgbClr val="1D7E7E"/>
                </a:solidFill>
                <a:latin typeface="Cambria"/>
              </a:defRPr>
            </a:pPr>
            <a:r>
              <a:t>+0.5 ~ 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70332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3794759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TrSG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40873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0">
                <a:solidFill>
                  <a:srgbClr val="E0B85F"/>
                </a:solidFill>
                <a:latin typeface="Cambria"/>
              </a:defRPr>
            </a:pPr>
            <a:r>
              <a:t>+1.6 ~ 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470916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0E5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480060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Both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509320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0">
                <a:solidFill>
                  <a:srgbClr val="0E5E5E"/>
                </a:solidFill>
                <a:latin typeface="Cambria"/>
              </a:defRPr>
            </a:pPr>
            <a:r>
              <a:t>+2.1 ~ 4.8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989320"/>
            <a:ext cx="11192256" cy="5029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03504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two fixes are orthogonal — diagnoses aim at different components, not the same problem twice.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Beyond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Transformer SNNs · object detection · energy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41732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Transformer SNN  (QKFormer, ImageNet, T=4)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Baseline 78.80    →    + ours 79.90    (+1.10 %pt)</a:t>
            </a:r>
            <a:br/>
            <a:r>
              <a:t>AS-SG    77.09    →    RS-SG  78.70    →    TrSG  79.90</a:t>
            </a:r>
            <a:br/>
            <a:r>
              <a:t>Drop-in SG swap on a state-of-the-art Transformer SNN.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486400" cy="141732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Object detection  (COCO-2017, EMS-ResNet10, T=3)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mAP@0.5         0.291  →  0.305    (+0.014)</a:t>
            </a:r>
            <a:br/>
            <a:r>
              <a:t>mAP@0.5:0.95    0.138  →  0.147    (+0.009)</a:t>
            </a:r>
            <a:br/>
            <a:r>
              <a:t>First evidence the principles transfer beyond classification.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40480"/>
            <a:ext cx="5486400" cy="150876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Energy under matched configuration  (CIFAR-100)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4340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Baseline   1.57 mJ   ·   75.58 %</a:t>
            </a:r>
            <a:br/>
            <a:r>
              <a:t>+ MP-Init + TrSG    1.67 mJ   ·   77.68 %</a:t>
            </a:r>
            <a:br/>
            <a:r>
              <a:t>+2.10 %pt at +6 % energy → orders of magnitude better than</a:t>
            </a:r>
            <a:br/>
            <a:r>
              <a:t>spike-rate-multiplying baselines (cf. Pareto frontier on slide 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3840480"/>
            <a:ext cx="5486400" cy="150876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All four surrogate 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34340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Rectangular · Triangular · Arctan · Sigmoid</a:t>
            </a:r>
            <a:br/>
            <a:r>
              <a:t>TrSG remains the best across initial V_thr, initial τ,</a:t>
            </a:r>
            <a:br/>
            <a:r>
              <a:t>and surrogate shape — never tied for second.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7784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5577840"/>
            <a:ext cx="11192256" cy="6858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623559"/>
            <a:ext cx="107899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No architectural changes, no extra losses, no per-timestep parameters — just drop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This Talk Was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2194560"/>
            <a:ext cx="11192256" cy="9144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40279"/>
            <a:ext cx="10789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500" b="1">
                <a:solidFill>
                  <a:srgbClr val="E0B85F"/>
                </a:solidFill>
                <a:latin typeface="Calibri"/>
              </a:defRPr>
            </a:pPr>
            <a:r>
              <a:t>Two long-standing instabilities of direct SNN training, traced and fixed.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Both fixes are minimal, principled, and preserve standard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TCS originates in the membrane potential — fix the initial state.</a:t>
            </a:r>
            <a:br/>
            <a:br/>
            <a:r>
              <a:t>Per-layer running mean of U[T].</a:t>
            </a:r>
            <a:br/>
            <a:br/>
            <a:r>
              <a:t>Zero overhead, standard LIF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Threshold-induced gradient pathology — fix it with one forward-path multiplication.</a:t>
            </a:r>
            <a:br/>
            <a:br/>
            <a:r>
              <a:t>Window adapts, magnitude is invariant.</a:t>
            </a:r>
            <a:br/>
            <a:br/>
            <a:r>
              <a:t>Standard LIF after training.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SOTA on CIFAR-10/100, ImageNet, DVS-CIFAR10.</a:t>
            </a:r>
            <a:br/>
            <a:br/>
            <a:r>
              <a:t>Generalizes to Transformer SNNs (QKFormer +1.10) and detection (COCO +0.014 mAP).</a:t>
            </a:r>
            <a:br/>
            <a:br/>
            <a:r>
              <a:t>All without architectural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FFFFFF"/>
                </a:solidFill>
                <a:latin typeface="Cambria"/>
              </a:defRPr>
            </a:pPr>
            <a:r>
              <a:t>Two instabilities, two principled fixes,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E0B85F"/>
                </a:solidFill>
                <a:latin typeface="Cambria"/>
              </a:defRPr>
            </a:pPr>
            <a:r>
              <a:t>one cohesive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Per-layer constant approximates π only at the mean — richer parameterizations are open.</a:t>
            </a:r>
            <a:br/>
            <a:r>
              <a:t>▸  Hardware with fixed neuron parameters needs quantization-aware adaptation.</a:t>
            </a:r>
            <a:br/>
            <a:r>
              <a:t>▸  i.i.d. assumption empirically supported, but tighter bounds welcome.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FUTURE 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Hardware-aware adaptation:  Loihi, Akida, TrueNorth</a:t>
            </a:r>
            <a:br/>
            <a:r>
              <a:t>▸  Beyond LIF:  adaptive LIF, Izhikevich, foundation-scale SNNs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26364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733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1">
                <a:solidFill>
                  <a:srgbClr val="E0B85F"/>
                </a:solidFill>
                <a:latin typeface="Cambria"/>
              </a:defRPr>
            </a:pPr>
            <a:r>
              <a:t>Thank you.   Questions?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21 /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BACKUP MATERIAL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000" b="1" i="0">
                <a:solidFill>
                  <a:srgbClr val="FFFFFF"/>
                </a:solidFill>
                <a:latin typeface="Cambria"/>
              </a:defRPr>
            </a:pPr>
            <a:r>
              <a:t>Appendix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70332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 i="1">
                <a:solidFill>
                  <a:srgbClr val="E0B85F"/>
                </a:solidFill>
                <a:latin typeface="Cambria"/>
              </a:defRPr>
            </a:pPr>
            <a:r>
              <a:t>Q&amp;A reference: hardware, datasets, prior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Can SNNs run on real chips?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Where SNN efficiency comes from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Energy: SNN chip vs DNN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66928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What is an event-based dataset?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From DVS events to SNN 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How were SNNs trained before?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Prior work on TCS &amp; threshold learning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Can SNNs Actually Run on Chips?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Production-grade neuromorphic silicon already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Yes — and at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3749039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0" i="0">
                <a:solidFill>
                  <a:srgbClr val="1A1A1A"/>
                </a:solidFill>
                <a:latin typeface="Calibri"/>
              </a:defRPr>
            </a:pPr>
            <a:r>
              <a:t>Several research and commercial chips natively run spiking models. Our methods (MP-Init, TrSG) are training-time techniques that produce the same LIF model these chips already accept — so the trained network ports directly without architectural changes.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20640"/>
            <a:ext cx="54864" cy="11887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120640"/>
            <a:ext cx="3694176" cy="118872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66359"/>
            <a:ext cx="329183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Key takeaway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Hardware is here. The bottleneck is training quality at low T.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26280" y="2194560"/>
          <a:ext cx="731520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640080"/>
                <a:gridCol w="960120"/>
                <a:gridCol w="1783080"/>
                <a:gridCol w="2148840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Chip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Process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Capacity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Headline metric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IBM TrueNorth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256 M syn.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70 mW · 26 pJ/event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2018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14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M syn.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23.6 pJ / op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 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2021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Intel 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graded spikes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improved · multi-bit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SpiNNaker 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2024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22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M syn. / 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ARM-based · digital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Tianjic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2019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28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40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SNN+ANN hybrid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Tsinghua · hybrid arch.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Speck (SynSense)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328 K neur.</a:t>
                      </a:r>
                    </a:p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 on-chip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&lt; 10 mW · always-on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BrainScaleS-2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512 analog neur.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1000× biological speed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2628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Refs: Merolla 2014 · Davies 2018 · Mayr 2019 · Pei 2019 · SynSense 2022 · BrainScaleS team 2022.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A1 / A7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SNN Efficiency Comes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structural advantages — none requires a new training scheme.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3703320" cy="914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1D7E7E"/>
                </a:solidFill>
                <a:latin typeface="Calibri"/>
              </a:defRPr>
            </a:pPr>
            <a:r>
              <a:t>①  Event-driven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No spike → no compute. Inactive neurons skip MAC and memory access entirely.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Typical activity:  5–20 % per timestep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2544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2194560"/>
            <a:ext cx="3703320" cy="914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0B85F"/>
                </a:solidFill>
                <a:latin typeface="Calibri"/>
              </a:defRPr>
            </a:pPr>
            <a:r>
              <a:t>②  Multiplication-free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Spike ∈ {0, 1} → W·spike degenerates to W or 0. Each synapse becomes an Accumulate (AC), not a MAC.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9704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INT8 AC ≈ 8× cheaper than INT8 MAC (45 nm)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47888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47888" y="2194560"/>
            <a:ext cx="3703320" cy="9144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③  Co-located memory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Neuromorphic cores keep synaptic weights in local SRAM, on-chip mesh routing — no DRAM trip.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85048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0767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DRAM 64-bit ≈ 1300 pJ vs SRAM ≈ 5 pJ</a:t>
            </a:r>
          </a:p>
        </p:txBody>
      </p:sp>
      <p:pic>
        <p:nvPicPr>
          <p:cNvPr id="24" name="Picture 23" descr="mac_vs_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709160"/>
            <a:ext cx="6766560" cy="2055664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498079" y="4846320"/>
            <a:ext cx="54864" cy="1508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52944" y="4846320"/>
            <a:ext cx="4288536" cy="1508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19" y="4892040"/>
            <a:ext cx="3886200" cy="14173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Bottom line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Efficiency is structural — comes from sparsity + binary spikes + co-located memory.</a:t>
            </a:r>
            <a:br/>
            <a:r>
              <a:t>MP-Init / TrSG protect (1) by stabilizing low-T training.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A2 / A7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Energy: SNN Chip vs DNN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Same task, four hardware platforms — what does the gap actually look like?</a:t>
            </a:r>
          </a:p>
        </p:txBody>
      </p:sp>
      <p:pic>
        <p:nvPicPr>
          <p:cNvPr id="6" name="Picture 5" descr="energy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040880" cy="34049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44068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Same Aloha keyword-spotting task on each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21945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How big is the gap?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6060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Sparse / event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907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~50–100×  vs embedded GPU</a:t>
            </a:r>
            <a:br/>
            <a:r>
              <a:t>(keyword spot, gesture, sparse coding)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61188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Static images (CIFAR / ImageNet)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91363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~2–5×  vs GPU at iso-accuracy</a:t>
            </a:r>
            <a:br/>
            <a:r>
              <a:t>(per published SNN/CNN comparisons)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4348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Why so task-dependent?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736592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Energy ∝ T × spike-rate × neurons.</a:t>
            </a:r>
            <a:br/>
            <a:r>
              <a:t>Low-T + high-sparsity → big gap.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35824" y="5532120"/>
            <a:ext cx="4151376" cy="8229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5577840"/>
            <a:ext cx="374903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1">
                <a:solidFill>
                  <a:srgbClr val="E0B85F"/>
                </a:solidFill>
                <a:latin typeface="Calibri"/>
              </a:defRPr>
            </a:pPr>
            <a:r>
              <a:t>Why this matters for our work</a:t>
            </a:r>
          </a:p>
          <a:p>
            <a:pPr>
              <a:spcBef>
                <a:spcPts val="600"/>
              </a:spcBef>
              <a:defRPr sz="1050">
                <a:solidFill>
                  <a:srgbClr val="FFFFFF"/>
                </a:solidFill>
                <a:latin typeface="Calibri"/>
              </a:defRPr>
            </a:pPr>
            <a:r>
              <a:t>MP-Init enables T = 2 SOTA → directly multiplies energy savings.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60720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Sources: Blouw et al. 2019 (keyword-spotting benchmark) ·</a:t>
            </a:r>
            <a:br/>
            <a:r>
              <a:t>Davies et al. 2021 (LASSO 48× vs CPU) · Horowitz ISSCC 2014 (per-op energy).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A3 / A7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Is an Event-Based Dataset?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Output of asynchronous DVS cameras — sparse, fast, high dynamic range.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DVS: Dynamic Vision Sensor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5029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Each pixel asynchronously emits an event when its log-intensity changes by a threshold.</a:t>
            </a:r>
            <a:br/>
            <a:r>
              <a:t>Output: a stream of (x, y, t, polarity) tuples.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μs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temporal resolution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5648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55648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0B85F"/>
                </a:solidFill>
                <a:latin typeface="Calibri"/>
              </a:defRPr>
            </a:pPr>
            <a:r>
              <a:t>&gt;120 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dynamic range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54096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Sparse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only changes emit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52544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No blur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no exposure window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66360"/>
            <a:ext cx="54864" cy="10058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166360"/>
            <a:ext cx="5294376" cy="10058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12080"/>
            <a:ext cx="4892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In this thesis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DVS-CIFAR10  (event-based image classification, T = 10).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035040" y="2194560"/>
          <a:ext cx="58521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06040"/>
                <a:gridCol w="114300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Size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DVS-CIFAR10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 on monitor + saccading DVS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N-MNIST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MNIST shown to event camera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70 K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N-Caltech101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Caltech101 in event form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9.1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DVS-Gesture (IBM)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11 hand gestures, 29 subjects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1.3 K clips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SHD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Spiking Heidelberg Digits (audio events)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Gen1 / 1Mpx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Prophesee automotive (object detect.)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39 h / 14 h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1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ASL-DVS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American Sign Language (event)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5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035040" y="6217920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1">
                <a:solidFill>
                  <a:srgbClr val="7A7A7A"/>
                </a:solidFill>
                <a:latin typeface="Calibri"/>
              </a:defRPr>
            </a:pPr>
            <a:r>
              <a:t>Highlighted: dataset used in this thesis.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A4 / A7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From DVS Events to SNN 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Asynchronous events become T frames that the LIF stack consumes.</a:t>
            </a:r>
          </a:p>
        </p:txBody>
      </p:sp>
      <p:pic>
        <p:nvPicPr>
          <p:cNvPr id="6" name="Picture 5" descr="dvs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0"/>
            <a:ext cx="11064240" cy="382207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760720"/>
            <a:ext cx="54864" cy="5943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3" y="5760720"/>
            <a:ext cx="11009376" cy="59436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806440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1">
                <a:solidFill>
                  <a:srgbClr val="1D7E7E"/>
                </a:solidFill>
                <a:latin typeface="Calibri"/>
              </a:defRPr>
            </a:pPr>
            <a:r>
              <a:t>Why this matters for MP-Init</a:t>
            </a:r>
          </a:p>
          <a:p>
            <a:pPr>
              <a:spcBef>
                <a:spcPts val="600"/>
              </a:spcBef>
              <a:defRPr sz="1050">
                <a:solidFill>
                  <a:srgbClr val="1A1A1A"/>
                </a:solidFill>
                <a:latin typeface="Calibri"/>
              </a:defRPr>
            </a:pPr>
            <a:r>
              <a:t>The first frame after binning has no history → the membrane starts at zero, far from π. That's exactly the gap MP-Init closes.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A5 / A7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How Were SNNs Trained Before?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From biological learning rules to modern surrogate-gradient BPTT.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926080"/>
            <a:ext cx="10698480" cy="36576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12648" y="2834640"/>
            <a:ext cx="237744" cy="237744"/>
          </a:xfrm>
          <a:prstGeom prst="ellipse">
            <a:avLst/>
          </a:prstGeom>
          <a:solidFill>
            <a:srgbClr val="E0B85F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onsolas"/>
              </a:defRPr>
            </a:pPr>
            <a:r>
              <a:t>1998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82879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STDP</a:t>
            </a:r>
          </a:p>
        </p:txBody>
      </p:sp>
      <p:sp>
        <p:nvSpPr>
          <p:cNvPr id="10" name="Oval 9"/>
          <p:cNvSpPr/>
          <p:nvPr/>
        </p:nvSpPr>
        <p:spPr>
          <a:xfrm>
            <a:off x="3538728" y="2834640"/>
            <a:ext cx="237744" cy="237744"/>
          </a:xfrm>
          <a:prstGeom prst="ellipse">
            <a:avLst/>
          </a:prstGeom>
          <a:solidFill>
            <a:srgbClr val="E56945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onsolas"/>
              </a:defRPr>
            </a:pPr>
            <a:r>
              <a:t>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ANN→SNN</a:t>
            </a:r>
            <a:br/>
            <a:r>
              <a:t>conversion</a:t>
            </a:r>
          </a:p>
        </p:txBody>
      </p:sp>
      <p:sp>
        <p:nvSpPr>
          <p:cNvPr id="13" name="Oval 12"/>
          <p:cNvSpPr/>
          <p:nvPr/>
        </p:nvSpPr>
        <p:spPr>
          <a:xfrm>
            <a:off x="7196328" y="2834640"/>
            <a:ext cx="237744" cy="237744"/>
          </a:xfrm>
          <a:prstGeom prst="ellipse">
            <a:avLst/>
          </a:prstGeom>
          <a:solidFill>
            <a:srgbClr val="1D7E7E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onsolas"/>
              </a:defRPr>
            </a:pPr>
            <a:r>
              <a:t>2018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Surrogate</a:t>
            </a:r>
            <a:br/>
            <a:r>
              <a:t>gradient</a:t>
            </a:r>
          </a:p>
        </p:txBody>
      </p:sp>
      <p:sp>
        <p:nvSpPr>
          <p:cNvPr id="16" name="Oval 15"/>
          <p:cNvSpPr/>
          <p:nvPr/>
        </p:nvSpPr>
        <p:spPr>
          <a:xfrm>
            <a:off x="10853928" y="2834640"/>
            <a:ext cx="237744" cy="237744"/>
          </a:xfrm>
          <a:prstGeom prst="ellipse">
            <a:avLst/>
          </a:prstGeom>
          <a:solidFill>
            <a:srgbClr val="0F2540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onsolas"/>
              </a:defRPr>
            </a:pPr>
            <a:r>
              <a:t>today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Direct +</a:t>
            </a:r>
            <a:br/>
            <a:r>
              <a:t>learnable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2606040" cy="54864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Spike-Timing-Dependent Plasticity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Biological Hebbian rule.</a:t>
            </a:r>
            <a:br/>
            <a:r>
              <a:t>Unsupervised, local; works on small nets only.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Bi &amp; Poo 1998</a:t>
            </a:r>
            <a:br/>
            <a:r>
              <a:t>Diehl &amp; Cook 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61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46120" y="4160520"/>
            <a:ext cx="2606040" cy="54864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79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Train ANN → convert weights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Pretrained ReLU CNN → spike rates.</a:t>
            </a:r>
            <a:br/>
            <a:r>
              <a:t>Early methods: T = 100–2000.</a:t>
            </a:r>
            <a:br/>
            <a:r>
              <a:t>Modern (QCFS '23, Hao '23): T ≤ 8.</a:t>
            </a:r>
            <a:br/>
            <a:r>
              <a:t>Still cannot consume native event data.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79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Cao 2015 · Rueckauer 2017</a:t>
            </a:r>
            <a:br/>
            <a:r>
              <a:t>Bu 2023 (QCFS) · Hao 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89320" y="4160520"/>
            <a:ext cx="2606040" cy="54864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Surrogate gradient (STBP / BPTT)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Replace Heaviside backward with a smooth function.</a:t>
            </a:r>
            <a:br/>
            <a:r>
              <a:t>Few timesteps; works on event data; modern dominant.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Bohte 2002 · Wu 2018</a:t>
            </a:r>
            <a:br/>
            <a:r>
              <a:t>Neftci 2019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325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732520" y="4160520"/>
            <a:ext cx="2606040" cy="54864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Learnable LIF parameters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Train V_thr, τ end-to-end → adaptive neurons.</a:t>
            </a:r>
            <a:br/>
            <a:r>
              <a:t>This thesis: stabilize that training pathway.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Fang 2021 · Wang 2022</a:t>
            </a:r>
            <a:br/>
            <a:r>
              <a:t>Rathi 2023 · ours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A6 / A7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Prior Work Falls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TCS methods miss the membrane potential; threshold-learning methods don't diagnose the gradient.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TCS / Normalization in SNNs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33172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does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BNTT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BN on synaptic input current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U[t] drift not corrected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tdBN '20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Threshold-dependent BN on activations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Pre-spike BN; U[t]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TEBN '22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Timestep-specific affine on outputs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drift untouched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TAB '24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Temporal-adaptive output normalization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TCS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486400"/>
            <a:ext cx="54864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431536" cy="7772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Our take (MP-Init)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Fix the cause, not symptom — align M[t] with stationary π directly.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Trainable LIF parameters (V_thr, τ)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6364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9456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What's learned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PLIF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Leakage τ only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V_thr fixed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LTMD '22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(heavy clipping)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Hides instability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DIET-SNN '23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(gradient clip)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Doesn't classify failure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15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Ours (TrSG)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V_thr + τ, scale-invariant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263640" y="5486400"/>
            <a:ext cx="54864" cy="7772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18503" y="5486400"/>
            <a:ext cx="5431536" cy="777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Our take (TrSG)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Diagnose first (4 failure modes), then cancel the 1/V_thr factor by construction.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A7 / A7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