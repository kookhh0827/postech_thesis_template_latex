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How information flows, and how we get gradients through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4864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29000"/>
            <a:ext cx="5669280" cy="54864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4747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      (1 if exceeds, else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5669280" cy="54864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605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1605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key learnable parameters:  τ  (leakage)  and  V_thr  (threshold).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Heaviside is non-differentiable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 = H(M − V_thr)   ⇒   H'(x) = δ(x)   ⇒   no gradient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Surrogate gradient (SG)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7947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Replace H with a smooth surrogate f near the threshold.</a:t>
            </a:r>
            <a:br/>
            <a:r>
              <a:t>Use f'(x) ≈ H'(x) only in backward pass — forward pass</a:t>
            </a:r>
            <a:br/>
            <a:r>
              <a:t>still emits binary spikes.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2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532120"/>
            <a:ext cx="1119225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692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The membrane potential drives TCS;  the threshold drives the gradient pathology.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V_thr controls when a neuron fires — we want it to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Modern methods (PLIF, LTMD, DIET-SNN) all make V_thr trainable. But the surrogate gradient flowing</a:t>
            </a:r>
            <a:br/>
            <a:r>
              <a:t>through V_thr is highly sensitive to its scale.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49240" cy="182880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V_thr ≪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79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AS-SG floods the layer (window covers most of the distribution).</a:t>
            </a:r>
            <a:br/>
            <a:r>
              <a:t>RS-SG explodes through the 1/V_thr factor in the chain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749039"/>
            <a:ext cx="5349240" cy="182880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3931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V_thr ≫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97679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AS-SG starves (window misses most of the distribution).</a:t>
            </a:r>
            <a:br/>
            <a:r>
              <a:t>RS-SG vanishes through the same 1/V_thr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1">
                <a:solidFill>
                  <a:srgbClr val="0F2540"/>
                </a:solidFill>
                <a:latin typeface="Calibri"/>
              </a:defRPr>
            </a:pPr>
            <a:r>
              <a:t>These are not corner cases — real trainings visit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8229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U[t+1]  =  f( U[t],  I_in[t+1] )         — i.i.d. inputs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200400"/>
            <a:ext cx="1119225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Under (i.i.d. inputs) + (bounded U[t]),  the chain has a unique stationary distribution π.  Moreover,</a:t>
            </a:r>
            <a:br/>
            <a:br/>
            <a:r>
              <a:t>      ‖ Pⁿ(x, ·)  −  π(·) ‖_TV   ≤   C · (1 − ε)ⁿ        (geometric convergence)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A1A1A"/>
                </a:solidFill>
                <a:latin typeface="Calibri"/>
              </a:defRPr>
            </a:pPr>
            <a:r>
              <a:t>▸  Initial state ≠ π   ⇒   TCS is mathematically inevitable</a:t>
            </a:r>
          </a:p>
          <a:p>
            <a:pPr>
              <a:spcBef>
                <a:spcPts val="600"/>
              </a:spcBef>
              <a:defRPr sz="1300">
                <a:solidFill>
                  <a:srgbClr val="1A1A1A"/>
                </a:solidFill>
                <a:latin typeface="Calibri"/>
              </a:defRPr>
            </a:pPr>
            <a:r>
              <a:t>▸  Standard practice  U[0] = 0  is almost always far from π</a:t>
            </a:r>
          </a:p>
          <a:p>
            <a:pPr>
              <a:spcBef>
                <a:spcPts val="600"/>
              </a:spcBef>
              <a:defRPr sz="1300">
                <a:solidFill>
                  <a:srgbClr val="1A1A1A"/>
                </a:solidFill>
                <a:latin typeface="Calibri"/>
              </a:defRPr>
            </a:pPr>
            <a:r>
              <a:t>▸  Don't fix the normalization layer — fix the initial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same idea, two parameterizations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Window width fixed at γ — ignores V_thr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Magnitude independent of V_thr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Used by tdBN, TET, PLIF, LTMD, 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486400" cy="3657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346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5204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Window scales with V_thr  ✓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But chain rule introduces a 1/V_thr factor in magnitude  ✗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Used by Meng 2023, DIET-SNN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Treated as essentially equivalent. Once V_thr is trainable, they break in opposite ways.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7A7A7A"/>
                </a:solidFill>
                <a:latin typeface="Calibri"/>
              </a:defRPr>
            </a:pPr>
            <a:r>
              <a:t>Window width × gradient magnitude — both must scale correctly with V_thr.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606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rPr spc="200"/>
              <a:t>V_thr ≪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606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rPr spc="200"/>
              <a:t>V_thr ≫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005840" cy="914400"/>
          </a:xfrm>
          <a:prstGeom prst="rect">
            <a:avLst/>
          </a:prstGeom>
          <a:solidFill>
            <a:srgbClr val="E56945"/>
          </a:solidFill>
          <a:ln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2926080"/>
            <a:ext cx="5029200" cy="914400"/>
          </a:xfrm>
          <a:prstGeom prst="rect">
            <a:avLst/>
          </a:prstGeom>
          <a:solidFill>
            <a:srgbClr val="FAEEE0"/>
          </a:solidFill>
          <a:ln w="6350">
            <a:solidFill>
              <a:srgbClr val="FAE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04495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✗  Flooding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383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fixed window covers most of the distribution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926080"/>
            <a:ext cx="5029200" cy="914400"/>
          </a:xfrm>
          <a:prstGeom prst="rect">
            <a:avLst/>
          </a:prstGeom>
          <a:solidFill>
            <a:srgbClr val="FAEEE0"/>
          </a:solidFill>
          <a:ln w="6350">
            <a:solidFill>
              <a:srgbClr val="FAE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304495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✗  Starvation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383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fixed window misses the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40"/>
            <a:ext cx="1005840" cy="914400"/>
          </a:xfrm>
          <a:prstGeom prst="rect">
            <a:avLst/>
          </a:prstGeom>
          <a:solidFill>
            <a:srgbClr val="E0B85F"/>
          </a:solidFill>
          <a:ln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27024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3977640"/>
            <a:ext cx="5029200" cy="914400"/>
          </a:xfrm>
          <a:prstGeom prst="rect">
            <a:avLst/>
          </a:prstGeom>
          <a:solidFill>
            <a:srgbClr val="FAEECB"/>
          </a:solidFill>
          <a:ln w="6350">
            <a:solidFill>
              <a:srgbClr val="FAE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40" y="409651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✗  Explosion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434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1/V_thr blows the magnitude 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3977640"/>
            <a:ext cx="5029200" cy="914400"/>
          </a:xfrm>
          <a:prstGeom prst="rect">
            <a:avLst/>
          </a:prstGeom>
          <a:solidFill>
            <a:srgbClr val="FAEECB"/>
          </a:solidFill>
          <a:ln w="6350">
            <a:solidFill>
              <a:srgbClr val="FAE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409651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✗  Vanishing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434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1/V_thr shrinks the magnitude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1005840" cy="914400"/>
          </a:xfrm>
          <a:prstGeom prst="rect">
            <a:avLst/>
          </a:prstGeom>
          <a:solidFill>
            <a:srgbClr val="1D7E7E"/>
          </a:solidFill>
          <a:ln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32180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5029200"/>
            <a:ext cx="5029200" cy="914400"/>
          </a:xfrm>
          <a:prstGeom prst="rect">
            <a:avLst/>
          </a:prstGeom>
          <a:solidFill>
            <a:srgbClr val="E5F5F0"/>
          </a:solidFill>
          <a:ln w="6350">
            <a:solidFill>
              <a:srgbClr val="E5F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91640" y="514807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✓  Balanced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window scales with V_thr,  magnitude stays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5029200"/>
            <a:ext cx="5029200" cy="914400"/>
          </a:xfrm>
          <a:prstGeom prst="rect">
            <a:avLst/>
          </a:prstGeom>
          <a:solidFill>
            <a:srgbClr val="E5F5F0"/>
          </a:solidFill>
          <a:ln w="6350">
            <a:solidFill>
              <a:srgbClr val="E5F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14807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✓  Balanced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4864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window scales with V_thr,  magnitude stays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(Geometric picture in the thesis Figure 5.1.)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the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Step 1.  Use the relative-scale window (RS-SG style):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517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x  =  M[t] / V_thr   −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Step 2.  Multiply V_thr on the forward path  (this is the only change):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77639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3977639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O[t]  =  V_thr  ·  S[t]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Step 3.  The chain rule cancels the 1/V_thr factor exactly: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0352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303520"/>
            <a:ext cx="1119225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500">
                <a:solidFill>
                  <a:srgbClr val="FFFFFF"/>
                </a:solidFill>
                <a:latin typeface="Calibri"/>
              </a:defRPr>
            </a:pPr>
            <a:r>
              <a:t>∂O / ∂M   =   V_thr  ·  ∂S/∂M   ≈   V_thr · (1/V_thr) f'(x)   =   f'(x)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1">
                <a:solidFill>
                  <a:srgbClr val="1D7E7E"/>
                </a:solidFill>
                <a:latin typeface="Calibri"/>
              </a:defRPr>
            </a:pPr>
            <a:r>
              <a:t>Window adapts with V_thr   ·   gradient magnitude is threshold-invariant.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Holds Up — Stress Tests + Real Trajectories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Gradient-stability metrics at extreme thresholds  (CIFAR-100, T=4, ep 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0.1   (low)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AbsStr 0.0145  · 90% active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diverged (NaN)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0.0153  · 21% · CV 0.87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2.0   (high)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0%  active  (zero gradient)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0.10% active · CV 2.25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0.0323  · 7% · CV 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Real trainings actually visit these regions</a:t>
            </a:r>
          </a:p>
        </p:txBody>
      </p:sp>
      <p:pic>
        <p:nvPicPr>
          <p:cNvPr id="12" name="Picture 11" descr="threshold_training_imag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06040"/>
            <a:ext cx="5120640" cy="21945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7200" y="502920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502920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Across CIFAR-100, DVS-CIFAR10, and ImageNet, trainable V_thr drifts well below 1</a:t>
            </a:r>
            <a:br/>
            <a:r>
              <a:t>or above 2 in some layers — exactly the regimes where AS-SG and RS-SG fail.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Standard LIF neurons.  No AutoAugment / Cutout.  Three trials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7315200" cy="3749039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Top-1 accuracy (%) — Ours vs. previous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76656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  (R-19, T=6)     TAB 94.81     →  95.50    +0.69</a:t>
            </a:r>
          </a:p>
          <a:p>
            <a:pPr>
              <a:spcBef>
                <a:spcPts val="400"/>
              </a:spcBef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 (R-19, T=6)     TAB 76.82     →  77.91    +1.09</a:t>
            </a:r>
          </a:p>
          <a:p>
            <a:pPr>
              <a:spcBef>
                <a:spcPts val="400"/>
              </a:spcBef>
              <a:defRPr sz="1100">
                <a:solidFill>
                  <a:srgbClr val="1A1A1A"/>
                </a:solidFill>
                <a:latin typeface="Consolas"/>
              </a:defRPr>
            </a:pPr>
            <a:r>
              <a:t>ImageNet  (R-34, T=6)     TAB 67.78     →  68.73    +0.95</a:t>
            </a:r>
          </a:p>
          <a:p>
            <a:pPr>
              <a:spcBef>
                <a:spcPts val="400"/>
              </a:spcBef>
              <a:defRPr sz="1100">
                <a:solidFill>
                  <a:srgbClr val="1A1A1A"/>
                </a:solidFill>
                <a:latin typeface="Consolas"/>
              </a:defRPr>
            </a:pPr>
            <a:r>
              <a:t>ImageNet  (SEW-R34, T=4)  MPS 69.03     →  69.67    +0.64</a:t>
            </a:r>
          </a:p>
          <a:p>
            <a:pPr>
              <a:spcBef>
                <a:spcPts val="400"/>
              </a:spcBef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 (R-19, T=10)  RMP 76.20     →  81.43    +5.23</a:t>
            </a:r>
          </a:p>
          <a:p>
            <a:pPr>
              <a:spcBef>
                <a:spcPts val="400"/>
              </a:spcBef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 (7-CNN, T=4)  TAB 76.70     →  79.27    +2.57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606040"/>
            <a:ext cx="4023360" cy="11430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27432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9" y="285292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59" y="32918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over TAB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3886200"/>
            <a:ext cx="4023360" cy="11430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40233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9" y="4133087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45720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(SEW-R34) over MPS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5166360"/>
            <a:ext cx="4023360" cy="11430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53035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9" y="541324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585216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over RMP-Loss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CIFAR-100   (T = 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00" cy="283464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D7E7E"/>
                </a:solidFill>
                <a:latin typeface="Consolas"/>
              </a:defRPr>
            </a:pPr>
            <a:r>
              <a:t>MP-Init    TrSG       Acc (%)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✗        ✗         75.55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✓        ✗         76.09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✗        ✓         77.15</a:t>
            </a:r>
          </a:p>
          <a:p>
            <a:pPr>
              <a:spcBef>
                <a:spcPts val="400"/>
              </a:spcBef>
              <a:defRPr sz="1300" b="1">
                <a:solidFill>
                  <a:srgbClr val="1D7E7E"/>
                </a:solidFill>
                <a:latin typeface="Consolas"/>
              </a:defRPr>
            </a:pPr>
            <a:r>
              <a:t>   ✓        ✓         77.66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DVS-CIFAR10   (T =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97480"/>
            <a:ext cx="5486400" cy="283464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3464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D7E7E"/>
                </a:solidFill>
                <a:latin typeface="Consolas"/>
              </a:defRPr>
            </a:pPr>
            <a:r>
              <a:t>MP-Init    TrSG       Acc (%)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✗        ✗         76.60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✓        ✗         77.37</a:t>
            </a:r>
          </a:p>
          <a:p>
            <a:pPr>
              <a:spcBef>
                <a:spcPts val="400"/>
              </a:spcBef>
              <a:defRPr sz="1300" b="0">
                <a:solidFill>
                  <a:srgbClr val="1A1A1A"/>
                </a:solidFill>
                <a:latin typeface="Consolas"/>
              </a:defRPr>
            </a:pPr>
            <a:r>
              <a:t>   ✗        ✓         80.83</a:t>
            </a:r>
          </a:p>
          <a:p>
            <a:pPr>
              <a:spcBef>
                <a:spcPts val="400"/>
              </a:spcBef>
              <a:defRPr sz="1300" b="1">
                <a:solidFill>
                  <a:srgbClr val="E0B85F"/>
                </a:solidFill>
                <a:latin typeface="Consolas"/>
              </a:defRPr>
            </a:pPr>
            <a:r>
              <a:t>   ✓        ✓         81.43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66928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5669280"/>
            <a:ext cx="11192256" cy="68580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MP-Init alone +0.5 ~ 0.8.  TrSG alone +1.6 ~ 4.2.  Together +2.1 ~ 4.8.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TCS originates in the membrane potential. A per-layer running mean closes the gap to the stationary distribution. No overhead, standard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Threshold-induced gradient pathology cancelled by a one-line forward-path fix. Window adapts, magnitude is invariant. Inference reverts to binary spikes.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SOTA on CIFAR-10/100, ImageNet, DVS-CIFAR10. Generalizes to Transformer SNNs and event-based detection without modification.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  &amp;  FUTURE 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CBD8E0"/>
                </a:solidFill>
                <a:latin typeface="Calibri"/>
              </a:defRPr>
            </a:pPr>
            <a:r>
              <a:t>Per-layer constant approximates π only at the mean — richer parameterizations are open.</a:t>
            </a:r>
            <a:br/>
            <a:r>
              <a:t>Hardware with fixed neuron parameters needs quantization-aware adaptation.</a:t>
            </a:r>
            <a:br/>
            <a:r>
              <a:t>Beyond LIF: extending the principles to adaptive LIF, Izhikevich, and large foundation-scale SNNs.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