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Markov by construction;  i.i.d. inputs ⇒ time-homogeneous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4846320"/>
          <a:ext cx="6583680" cy="1412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292608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T=2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72.35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74.01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484632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4983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53212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stabler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0292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Gradient: replace H'(x) with smooth f'(x).  Choice of x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4754880" cy="150876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26280"/>
            <a:ext cx="4754880" cy="150876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834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880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00400"/>
            <a:ext cx="6400800" cy="234966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602" y="1828800"/>
            <a:ext cx="295649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303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623560"/>
            <a:ext cx="2157984" cy="77724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V_thr^l  ·  W_{l→l+1}    (one-time rescaling per layer)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293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2920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4937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RMP-Loss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gains stack additively (largest combined effect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under matched configuration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→ orders of magnitude better than</a:t>
            </a:r>
            <a:br/>
            <a:r>
              <a:t>spike-rate-multiplying baselines (cf. Pareto frontier on slide 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760720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BACKUP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000" b="1" i="0">
                <a:solidFill>
                  <a:srgbClr val="FFFFFF"/>
                </a:solidFill>
                <a:latin typeface="Cambria"/>
              </a:defRPr>
            </a:pPr>
            <a: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 i="1">
                <a:solidFill>
                  <a:srgbClr val="E0B85F"/>
                </a:solidFill>
                <a:latin typeface="Cambria"/>
              </a:defRPr>
            </a:pPr>
            <a:r>
              <a:t>Q&amp;A reference: hardware, datasets, 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Can SNNs run on real chips?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Where SNN efficiency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Energy: SNN chip vs DNN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69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What is an event-based dataset?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From DVS events to SNN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How were SNNs trained before?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Prior work on TCS &amp; threshold learning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Can SNNs Actually Run on Chips?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Production-grade neuromorphic silicon already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Yes — and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7490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0" i="0">
                <a:solidFill>
                  <a:srgbClr val="1A1A1A"/>
                </a:solidFill>
                <a:latin typeface="Calibri"/>
              </a:defRPr>
            </a:pPr>
            <a:r>
              <a:t>Several research and commercial chips natively run spiking models. Our methods (MP-Init, TrSG) are training-time techniques that produce the same LIF model these chips already accept — so the trained network ports directly without architectural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54864" cy="11887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120640"/>
            <a:ext cx="3694176" cy="118872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59"/>
            <a:ext cx="32918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Key takeaway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Hardware is here. The bottleneck is training quality at low 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26280" y="219456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640080"/>
                <a:gridCol w="960120"/>
                <a:gridCol w="1783080"/>
                <a:gridCol w="2148840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Process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Headline metric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IBM TrueNorth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256 M syn.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70 mW · 26 pJ/event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2018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14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M syn.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23.6 pJ / op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 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Intel 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graded spikes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improved · multi-bit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SpiNNaker 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2024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22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M syn. / 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ARM-based · digital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Tianjic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28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40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SNN+ANN hybrid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Tsinghua · Nature 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Speck (SynSense)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328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 on-chip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10 mW · always-on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BrainScaleS-2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512 analog neur.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1000× biological speed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2628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Refs: Merolla 2014 · Davies 2018 · Mayr 2019 · Pei 2019 · SynSense 2022 · BrainScaleS team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A1 / A7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SNN Efficiency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structural advantages — none requires a new training scheme.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914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①  Event-driven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No spike → no compute. Inactive neurons skip MAC and memory access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Typical activity:  5–20 % per timestep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94560"/>
            <a:ext cx="3703320" cy="914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0B85F"/>
                </a:solidFill>
                <a:latin typeface="Calibri"/>
              </a:defRPr>
            </a:pPr>
            <a:r>
              <a:t>②  Multiplication-free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Spike ∈ {0, 1} → W·spike degenerates to W or 0. Each synapse becomes an Accumulate (AC), not a MAC.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9704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INT8 AC ≈ 8× cheaper than INT8 MAC (45 nm)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47888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2194560"/>
            <a:ext cx="3703320" cy="9144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③  Co-located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Neuromorphic cores keep synaptic weights in local SRAM, on-chip mesh routing — no DRAM trip.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8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7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DRAM 64-bit ≈ 1300 pJ vs SRAM ≈ 5 pJ</a:t>
            </a:r>
          </a:p>
        </p:txBody>
      </p:sp>
      <p:pic>
        <p:nvPicPr>
          <p:cNvPr id="24" name="Picture 23" descr="mac_vs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6766560" cy="1794423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498079" y="4846320"/>
            <a:ext cx="54864" cy="1508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52944" y="4846320"/>
            <a:ext cx="4288536" cy="1508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4892040"/>
            <a:ext cx="3886200" cy="1417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t>Efficiency is structural — comes from sparsity + binary spikes + co-located memory.</a:t>
            </a:r>
            <a:br/>
            <a:r>
              <a:t>MP-Init / TrSG protect (1) by stabilizing low-T training.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A2 / A7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Energy: SNN Chip vs DNN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Same task, four hardware platforms — what does the gap actually look like?</a:t>
            </a:r>
          </a:p>
        </p:txBody>
      </p:sp>
      <p:pic>
        <p:nvPicPr>
          <p:cNvPr id="6" name="Picture 5" descr="energ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040880" cy="3404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Same Aloha keyword-spotting task on each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How big is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06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Sparse / event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907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~50–100×  vs embedded GPU</a:t>
            </a:r>
            <a:br/>
            <a:r>
              <a:t>(keyword spot, gesture, sparse coding)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118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Static images (CIFAR / ImageNet)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136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~2–5×  vs GPU at iso-accuracy</a:t>
            </a:r>
            <a:br/>
            <a:r>
              <a:t>(per published SNN/CNN comparisons)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Why so task-dependent?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365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Energy ∝ T × spike-rate × neurons.</a:t>
            </a:r>
            <a:br/>
            <a:r>
              <a:t>Low-T + high-sparsity → big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35824" y="5532120"/>
            <a:ext cx="4151376" cy="8229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577840"/>
            <a:ext cx="374903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50" b="1">
                <a:solidFill>
                  <a:srgbClr val="E0B85F"/>
                </a:solidFill>
                <a:latin typeface="Calibri"/>
              </a:defRPr>
            </a:pPr>
            <a:r>
              <a:t>Why this matters for our work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  <a:latin typeface="Calibri"/>
              </a:defRPr>
            </a:pPr>
            <a:r>
              <a:t>MP-Init enables T = 2 SOTA → directly multiplies energy savings.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Sources: Blouw et al. 2019 (keyword-spotting benchmark); Davies et al. 2021 (LASSO 48× vs CPU); Horowitz ISSCC 2014 (per-op energy).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A3 / A7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Is an Event-Based Dataset?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Output of asynchronous DVS cameras — sparse, fast, high dynamic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DVS: Dynamic Vision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Each pixel asynchronously emits an event when its log-intensity changes by a threshold.</a:t>
            </a:r>
            <a:br/>
            <a:r>
              <a:t>Output: a stream of (x, y, t, polarity) tuples.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5648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0B85F"/>
                </a:solidFill>
                <a:latin typeface="Calibri"/>
              </a:defRPr>
            </a:pPr>
            <a:r>
              <a:t>&gt;120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dynamic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4096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Sparse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only changes emit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No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no exposure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54864" cy="10058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166360"/>
            <a:ext cx="5294376" cy="10058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4892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In this thesis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DVS-CIFAR10  (event-based image classification, T = 10).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35040" y="219456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06040"/>
                <a:gridCol w="114300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DVS-CIFAR10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 on monitor + saccading DVS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N-MNIST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MNIST shown to event camera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70 K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N-Caltech101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Caltech101 in event form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9.1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DVS-Gesture (IBM)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 hand gestures, 29 subjects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1.3 K clips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SHD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Spiking Heidelberg Digits (audio events)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Gen1 / 1Mpx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Prophesee automotive (object detect.)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39 h / 14 h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ASL-DVS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American Sign Language (event)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35040" y="6217920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Highlighted: dataset used in this thesis.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A4 / 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From DVS Events to SNN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Asynchronous events become T frames that the LIF stack consumes.</a:t>
            </a:r>
          </a:p>
        </p:txBody>
      </p:sp>
      <p:pic>
        <p:nvPicPr>
          <p:cNvPr id="6" name="Picture 5" descr="dv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11064240" cy="3822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54864" cy="5943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" y="5760720"/>
            <a:ext cx="11009376" cy="5943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1D7E7E"/>
                </a:solidFill>
                <a:latin typeface="Calibri"/>
              </a:defRPr>
            </a:pPr>
            <a:r>
              <a:t>Why this matters for MP-Init</a:t>
            </a:r>
          </a:p>
          <a:p>
            <a:pPr>
              <a:spcBef>
                <a:spcPts val="600"/>
              </a:spcBef>
              <a:defRPr sz="1050">
                <a:solidFill>
                  <a:srgbClr val="1A1A1A"/>
                </a:solidFill>
                <a:latin typeface="Calibri"/>
              </a:defRPr>
            </a:pPr>
            <a:r>
              <a:t>The first frame after binning has no history → the membrane starts at zero, far from π. That's exactly the gap MP-Init closes.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A5 / 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How Were SNNs Trained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From biological learning rules to modern surrogate-gradient BPTT.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698480" cy="36576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2648" y="2834640"/>
            <a:ext cx="237744" cy="237744"/>
          </a:xfrm>
          <a:prstGeom prst="ellipse">
            <a:avLst/>
          </a:prstGeom>
          <a:solidFill>
            <a:srgbClr val="E0B85F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onsolas"/>
              </a:defRPr>
            </a:pPr>
            <a: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82879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STDP</a:t>
            </a:r>
          </a:p>
        </p:txBody>
      </p:sp>
      <p:sp>
        <p:nvSpPr>
          <p:cNvPr id="10" name="Oval 9"/>
          <p:cNvSpPr/>
          <p:nvPr/>
        </p:nvSpPr>
        <p:spPr>
          <a:xfrm>
            <a:off x="3538728" y="2834640"/>
            <a:ext cx="237744" cy="237744"/>
          </a:xfrm>
          <a:prstGeom prst="ellipse">
            <a:avLst/>
          </a:prstGeom>
          <a:solidFill>
            <a:srgbClr val="E56945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onsolas"/>
              </a:defRPr>
            </a:pPr>
            <a: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ANN→SNN</a:t>
            </a:r>
            <a:br/>
            <a:r>
              <a:t>conversion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7196328" y="2834640"/>
            <a:ext cx="237744" cy="237744"/>
          </a:xfrm>
          <a:prstGeom prst="ellipse">
            <a:avLst/>
          </a:prstGeom>
          <a:solidFill>
            <a:srgbClr val="1D7E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onsolas"/>
              </a:defRPr>
            </a:pPr>
            <a: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Surrogate</a:t>
            </a:r>
            <a:br/>
            <a:r>
              <a:t>gradient</a:t>
            </a:r>
          </a:p>
        </p:txBody>
      </p:sp>
      <p:sp>
        <p:nvSpPr>
          <p:cNvPr id="16" name="Oval 15"/>
          <p:cNvSpPr/>
          <p:nvPr/>
        </p:nvSpPr>
        <p:spPr>
          <a:xfrm>
            <a:off x="10853928" y="2834640"/>
            <a:ext cx="237744" cy="237744"/>
          </a:xfrm>
          <a:prstGeom prst="ellipse">
            <a:avLst/>
          </a:prstGeom>
          <a:solidFill>
            <a:srgbClr val="0F25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onsolas"/>
              </a:defRPr>
            </a:pPr>
            <a: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Direct +</a:t>
            </a:r>
            <a:br/>
            <a:r>
              <a:t>learnable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06040" cy="54864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Spike-Timing-Dependent Plasticity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Biological Hebbian rule.</a:t>
            </a:r>
            <a:br/>
            <a:r>
              <a:t>Unsupervised, local; works on small nets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Bi &amp; Poo 1998</a:t>
            </a:r>
            <a:br/>
            <a:r>
              <a:t>Diehl &amp; Cook 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4160520"/>
            <a:ext cx="2606040" cy="54864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79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Train ANN → convert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Use pretrained ReLU CNN; map activations to spike rates.</a:t>
            </a:r>
            <a:br/>
            <a:r>
              <a:t>Early: T = 100–2000.  Modern (QCFS '23): T ≤ 8.</a:t>
            </a:r>
            <a:br/>
            <a:r>
              <a:t>Still cannot consume native event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Cao 2015 · Rueckauer 2017</a:t>
            </a:r>
            <a:br/>
            <a:r>
              <a:t>Bu 2023 (QCFS) · Hao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4160520"/>
            <a:ext cx="2606040" cy="54864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Surrogate gradient (STBP / BPTT)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Replace Heaviside backward with a smooth function.</a:t>
            </a:r>
            <a:br/>
            <a:r>
              <a:t>Few timesteps; works on event data; modern dominant.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Bohte 2002 · Wu 2018</a:t>
            </a:r>
            <a:br/>
            <a:r>
              <a:t>Neftci 2019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4160520"/>
            <a:ext cx="2606040" cy="54864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Learnable LIF 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 V_thr, τ end-to-end → adaptive neurons.</a:t>
            </a:r>
            <a:br/>
            <a:r>
              <a:t>This thesis: stabilize that training pathway.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Fang 2021 · Wang 2022</a:t>
            </a:r>
            <a:br/>
            <a:r>
              <a:t>Rathi 2023 · ours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A6 / 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Prior Work Falls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TCS methods miss the membrane potential; threshold-learning methods don't diagnose the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TCS / Normalization in SNNs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BNTT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BN on synaptic input current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U[t] drift not corrected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tdBN '20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Threshold-dependent BN on activations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Pre-spike BN; U[t]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TEBN '22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Timestep-specific affine on outputs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drift untouched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TAB '24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Temporal-adaptive output normalization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TCS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486400"/>
            <a:ext cx="54864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431536" cy="7772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Our take (MP-Init)</a:t>
            </a:r>
          </a:p>
          <a:p>
            <a:pPr>
              <a:spcBef>
                <a:spcPts val="600"/>
              </a:spcBef>
              <a:defRPr sz="1000">
                <a:solidFill>
                  <a:srgbClr val="1A1A1A"/>
                </a:solidFill>
                <a:latin typeface="Calibri"/>
              </a:defRPr>
            </a:pPr>
            <a:r>
              <a:t>Fix the cause, not symptom — align M[t] with stationary π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Trainable LIF parameters (V_thr, τ)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learned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PLIF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Leakage τ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V_thr fixed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LTMD '22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(heavy clipping)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Hides instability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DIET-SNN '23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(gradient clip)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classify failure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Ours (TrSG)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V_thr + τ, scale-invariant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63640" y="548640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3" y="5486400"/>
            <a:ext cx="543153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Our take (TrSG)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t>Diagnose first (4 failure modes), then cancel the 1/V_thr factor by construction.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A7 / 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