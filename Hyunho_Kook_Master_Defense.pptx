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55555"/>
                </a:solidFill>
              </a:defRPr>
            </a:pPr>
            <a:r>
              <a:t>Master's Thesis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4365C"/>
                </a:solidFill>
              </a:defRPr>
            </a:pPr>
            <a:r>
              <a:t>Enhancing Stability in Direct Training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4365C"/>
                </a:solidFill>
              </a:defRPr>
            </a:pPr>
            <a:r>
              <a:t>Spiking Neural Networks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C0392B"/>
                </a:solidFill>
              </a:defRPr>
            </a:pPr>
            <a:r>
              <a:t>Membrane Potential Initialization &amp;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C0392B"/>
                </a:solidFill>
              </a:defRPr>
            </a:pPr>
            <a:r>
              <a:t>Threshold-Robust Surrogate Gradient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4365C"/>
                </a:solidFill>
              </a:defRPr>
            </a:pPr>
            <a:r>
              <a:t>Hyunho Kook (국 현 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55555"/>
                </a:solidFill>
              </a:defRPr>
            </a:pPr>
            <a:r>
              <a:t>Department of Computer Science and Engineering, POSTECH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55555"/>
                </a:solidFill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465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</a:defRPr>
            </a:pPr>
            <a:r>
              <a:t>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Energy-efficient AI through event-driven computation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4365C"/>
                </a:solidFill>
              </a:defRPr>
            </a:pPr>
            <a:r>
              <a:t>The energy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• Modern DNNs scale to megawatt power budgets</a:t>
            </a:r>
          </a:p>
          <a:p>
            <a:pPr>
              <a:defRPr sz="1600"/>
            </a:pPr>
            <a:r>
              <a:t>• Edge inference faces tight energy constraints</a:t>
            </a:r>
          </a:p>
          <a:p>
            <a:pPr>
              <a:defRPr sz="1600"/>
            </a:pPr>
            <a:r>
              <a:t>• SNNs: spike-based, event-driven  →  efficient on neuromorphic HW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4365C"/>
                </a:solidFill>
              </a:defRPr>
            </a:pPr>
            <a:r>
              <a:t>Current state of SNN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• Direct training narrows the accuracy gap</a:t>
            </a:r>
          </a:p>
          <a:p>
            <a:pPr>
              <a:defRPr sz="1600"/>
            </a:pPr>
            <a:r>
              <a:t>• Yet two persistent instabilities remain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572000"/>
            <a:ext cx="5486400" cy="1463040"/>
          </a:xfrm>
          <a:prstGeom prst="roundRect">
            <a:avLst/>
          </a:prstGeom>
          <a:noFill/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0392B"/>
                </a:solidFill>
              </a:defRPr>
            </a:pPr>
            <a:r>
              <a:t>① Temporal Covariate Shift</a:t>
            </a:r>
            <a:br/>
            <a:r>
              <a:t>(membrane potential drift across timesteps)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572000"/>
            <a:ext cx="5486400" cy="1463040"/>
          </a:xfrm>
          <a:prstGeom prst="roundRect">
            <a:avLst/>
          </a:prstGeom>
          <a:noFill/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0392B"/>
                </a:solidFill>
              </a:defRPr>
            </a:pPr>
            <a:r>
              <a:t>② Gradient Pathology</a:t>
            </a:r>
            <a:br/>
            <a:r>
              <a:t>(when V_thr is trainable, gradients explode/vanish)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</a:defRPr>
            </a:pPr>
            <a:r>
              <a:t>This thesis: precise diagnoses + minimal interventions for both.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LIF Neuron in 30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The discrete-time leaky integrate-and-fire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Three updates per timestep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852160" cy="777240"/>
          </a:xfrm>
          <a:prstGeom prst="roundRect">
            <a:avLst/>
          </a:prstGeom>
          <a:noFill/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4365C"/>
                </a:solidFill>
              </a:defRPr>
            </a:pPr>
            <a:r>
              <a:t>Integrate:    M[t] = (1 − 1/τ)·U[t−1]  +  (1/τ)·I_in[t]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5852160" cy="777240"/>
          </a:xfrm>
          <a:prstGeom prst="roundRect">
            <a:avLst/>
          </a:prstGeom>
          <a:noFill/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4365C"/>
                </a:solidFill>
              </a:defRPr>
            </a:pPr>
            <a:r>
              <a:t>Fire:    S[t] = H( M[t] − V_thr )       (1 if exceeds, else 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852160" cy="777240"/>
          </a:xfrm>
          <a:prstGeom prst="roundRect">
            <a:avLst/>
          </a:prstGeom>
          <a:noFill/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4365C"/>
                </a:solidFill>
              </a:defRPr>
            </a:pPr>
            <a:r>
              <a:t>Reset:   U[t] = M[t] − V_thr · S[t]    (soft reset)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Intuition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• M[t]: membrane potential — the running 'sum'</a:t>
            </a:r>
          </a:p>
          <a:p>
            <a:pPr>
              <a:defRPr sz="1500"/>
            </a:pPr>
            <a:r>
              <a:t>• V_thr: firing threshold</a:t>
            </a:r>
          </a:p>
          <a:p>
            <a:pPr>
              <a:defRPr sz="1500"/>
            </a:pPr>
            <a:r>
              <a:t>• When M[t] crosses V_thr, the neuron fires (S=1) and resets</a:t>
            </a:r>
          </a:p>
          <a:p>
            <a:pPr>
              <a:defRPr sz="1500"/>
            </a:pPr>
            <a:r>
              <a:t>• Two key learnable parameters: V_thr, τ</a:t>
            </a:r>
          </a:p>
          <a:p>
            <a:pPr>
              <a:defRPr sz="1500"/>
            </a:pPr>
            <a:r>
              <a:t>• All temporal dynamics happen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</a:defRPr>
            </a:pPr>
            <a:r>
              <a:t>Everything in this thesis revolves around the membrane potential M[t] and threshold V_thr.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Direct Training &amp; Surrogate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Learning through the discontinuous spike 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Heaviside spike → not differentiable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303520" cy="109728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555555"/>
                </a:solidFill>
              </a:defRPr>
            </a:pPr>
            <a:r>
              <a:t>S = H(M − V_thr)</a:t>
            </a:r>
            <a:br/>
            <a:r>
              <a:t>H'(x) = δ(x)  (Dirac delta)</a:t>
            </a:r>
            <a:br/>
            <a:r>
              <a:t>Gradient blocked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303520" cy="109728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4365C"/>
                </a:solidFill>
              </a:defRPr>
            </a:pPr>
            <a:r>
              <a:t>Replace H with smooth surrogate f(x)</a:t>
            </a:r>
            <a:br/>
            <a:r>
              <a:t>f'(x) ≈ H'(x) near 0</a:t>
            </a:r>
            <a:br/>
            <a:r>
              <a:t>Gradient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4365C"/>
                </a:solidFill>
              </a:defRPr>
            </a:pPr>
            <a:r>
              <a:t>Common surrogate-derivative shapes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2743200" cy="731520"/>
          </a:xfrm>
          <a:prstGeom prst="roundRect">
            <a:avLst/>
          </a:prstGeom>
          <a:noFill/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4365C"/>
                </a:solidFill>
              </a:defRPr>
            </a:pPr>
            <a:r>
              <a:t>Rectangular</a:t>
            </a:r>
            <a:br/>
            <a:r>
              <a:t>f' = 1/γ · 1{|x|&lt;γ/2}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749039"/>
            <a:ext cx="2743200" cy="731520"/>
          </a:xfrm>
          <a:prstGeom prst="roundRect">
            <a:avLst/>
          </a:prstGeom>
          <a:noFill/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4365C"/>
                </a:solidFill>
              </a:defRPr>
            </a:pPr>
            <a:r>
              <a:t>Triangular</a:t>
            </a:r>
            <a:br/>
            <a:r>
              <a:t>f' = max(0, γ−|x|)/γ²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749039"/>
            <a:ext cx="2743200" cy="731520"/>
          </a:xfrm>
          <a:prstGeom prst="roundRect">
            <a:avLst/>
          </a:prstGeom>
          <a:noFill/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4365C"/>
                </a:solidFill>
              </a:defRPr>
            </a:pPr>
            <a:r>
              <a:t>Arctan</a:t>
            </a:r>
            <a:br/>
            <a:r>
              <a:t>f' = γ / (2(1+(πγx/2)²))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3749039"/>
            <a:ext cx="2743200" cy="731520"/>
          </a:xfrm>
          <a:prstGeom prst="roundRect">
            <a:avLst/>
          </a:prstGeom>
          <a:noFill/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4365C"/>
                </a:solidFill>
              </a:defRPr>
            </a:pPr>
            <a:r>
              <a:t>Sigmoid</a:t>
            </a:r>
            <a:br/>
            <a:r>
              <a:t>f' = (1/γ)·σ(x/γ)(1−σ)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20640"/>
            <a:ext cx="11887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392B"/>
                </a:solidFill>
              </a:defRPr>
            </a:pPr>
            <a:r>
              <a:t>→ The choice of where x is centered (M − V_thr  vs.  M/V_thr − 1)</a:t>
            </a:r>
            <a:br/>
            <a:r>
              <a:t>    looks innocent, but becomes critical once V_thr is learnable.</a:t>
            </a:r>
            <a:br/>
            <a:r>
              <a:t>    (The other half of this talk.)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Temporal Covariate Shift (TCS)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Per-timestep activation distributions drift apart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943600" cy="293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Symptom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737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Membrane potential M[t] drifts across timesteps</a:t>
            </a:r>
          </a:p>
          <a:p>
            <a:pPr>
              <a:defRPr sz="1400"/>
            </a:pPr>
            <a:r>
              <a:t>• BN statistics estimated at one timestep no longer fit at another</a:t>
            </a:r>
          </a:p>
          <a:p>
            <a:pPr>
              <a:defRPr sz="1400"/>
            </a:pPr>
            <a:r>
              <a:t>• Spike outputs swing → accuracy degrades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0392B"/>
                </a:solidFill>
              </a:defRPr>
            </a:pPr>
            <a:r>
              <a:t>Existing fixes are partial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0392B"/>
                </a:solidFill>
              </a:defRPr>
            </a:pPr>
            <a:r>
              <a:t>• TEBN, TAB: per-timestep BN parameters</a:t>
            </a:r>
          </a:p>
          <a:p>
            <a:pPr>
              <a:defRPr sz="1400">
                <a:solidFill>
                  <a:srgbClr val="C0392B"/>
                </a:solidFill>
              </a:defRPr>
            </a:pPr>
            <a:r>
              <a:t>• More parameters, more compute</a:t>
            </a:r>
          </a:p>
          <a:p>
            <a:pPr>
              <a:defRPr sz="1400">
                <a:solidFill>
                  <a:srgbClr val="C0392B"/>
                </a:solidFill>
              </a:defRPr>
            </a:pPr>
            <a:r>
              <a:t>• And — they don't actually fix M[t]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</a:defRPr>
            </a:pPr>
            <a:r>
              <a:t>tdBN (no TCS handling): each timestep curve sits at a different center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Why is Trainable V_thr Hard?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The threshold sits in the surrogate's argument — small changes warp the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• V_thr controls when a neuron fires — fundamental to LIF behavior</a:t>
            </a:r>
          </a:p>
          <a:p>
            <a:pPr>
              <a:defRPr sz="1600"/>
            </a:pPr>
            <a:r>
              <a:t>• Modern training methods (PLIF, LTMD, DIET-SNN) make it trainable</a:t>
            </a:r>
          </a:p>
          <a:p>
            <a:pPr>
              <a:defRPr sz="1600"/>
            </a:pPr>
            <a:r>
              <a:t>• But: existing surrogate gradients are highly sensitive to V_thr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0392B"/>
                </a:solidFill>
              </a:defRPr>
            </a:pPr>
            <a:r>
              <a:t>What can go wrong (preview of contribution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57600"/>
            <a:ext cx="5486400" cy="182880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0392B"/>
                </a:solidFill>
              </a:defRPr>
            </a:pPr>
            <a:r>
              <a:t>V_thr too small</a:t>
            </a:r>
            <a:br/>
            <a:r>
              <a:t>→ gradient floods the layer</a:t>
            </a:r>
            <a:br/>
            <a:r>
              <a:t>or explodes through 1/V_thr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657600"/>
            <a:ext cx="5486400" cy="182880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0392B"/>
                </a:solidFill>
              </a:defRPr>
            </a:pPr>
            <a:r>
              <a:t>V_thr too large</a:t>
            </a:r>
            <a:br/>
            <a:r>
              <a:t>→ gradient starves</a:t>
            </a:r>
            <a:br/>
            <a:r>
              <a:t>or vanishes through 1/V_thr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4365C"/>
                </a:solidFill>
              </a:defRPr>
            </a:pPr>
            <a:r>
              <a:t>→ Learning V_thr blindly is dangerous. We diagnose &amp; fix in Part 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Two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Unsolved by the existing literature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155680" cy="210312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4365C"/>
                </a:solidFill>
              </a:defRPr>
            </a:pPr>
            <a:r>
              <a:t>①  TCS in the membrane potential is not addressed by existing normalization.</a:t>
            </a:r>
            <a:br/>
            <a:br/>
            <a:r>
              <a:t>    TEBN / TAB stabilize activations but the underlying M[t] keeps drifting.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11155680" cy="210312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0392B"/>
                </a:solidFill>
              </a:defRPr>
            </a:pPr>
            <a:r>
              <a:t>②  Gradient pathology under trainable V_thr has never been explicitly analyzed.</a:t>
            </a:r>
            <a:br/>
            <a:br/>
            <a:r>
              <a:t>    Prior surrogate-gradient methods are not designed to be threshold-robust.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Both problems persist despite years of SNN training research.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Two methods, one principled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669280" cy="4389120"/>
          </a:xfrm>
          <a:prstGeom prst="roundRect">
            <a:avLst/>
          </a:prstGeom>
          <a:solidFill>
            <a:srgbClr val="14365C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MP-Init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Membrane Potential Initialization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Trace TCS to its root: membrane potential</a:t>
            </a:r>
          </a:p>
          <a:p>
            <a:pPr>
              <a:defRPr sz="1300"/>
            </a:pPr>
            <a:r>
              <a:t>• Theorem: M[t] converges geometrically to a unique stationary π (Doeblin)</a:t>
            </a:r>
          </a:p>
          <a:p>
            <a:pPr>
              <a:defRPr sz="1300"/>
            </a:pPr>
            <a:r>
              <a:t>• Algorithm: per-layer running mean of U[T] aligns initial state with π</a:t>
            </a:r>
          </a:p>
          <a:p>
            <a:pPr>
              <a:defRPr sz="1300"/>
            </a:pPr>
            <a:r>
              <a:t>• Eliminates TCS — at zero parameter overhead</a:t>
            </a:r>
          </a:p>
          <a:p>
            <a:pPr>
              <a:defRPr sz="1300"/>
            </a:pPr>
            <a:r>
              <a:t>• Inference: standard LIF, fully HW-compatible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669280" cy="4389120"/>
          </a:xfrm>
          <a:prstGeom prst="roundRect">
            <a:avLst/>
          </a:prstGeom>
          <a:solidFill>
            <a:srgbClr val="C0392B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TrSG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945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Threshold-Robust Surrogate Gradient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Classify existing SGs into AS-SG / RS-SG families</a:t>
            </a:r>
          </a:p>
          <a:p>
            <a:pPr>
              <a:defRPr sz="1300"/>
            </a:pPr>
            <a:r>
              <a:t>• Show how each fails when V_thr changes scale</a:t>
            </a:r>
          </a:p>
          <a:p>
            <a:pPr>
              <a:defRPr sz="1300"/>
            </a:pPr>
            <a:r>
              <a:t>• Fix: forward pass O = V_thr · S — cancels 1/V_thr factor exactly</a:t>
            </a:r>
          </a:p>
          <a:p>
            <a:pPr>
              <a:defRPr sz="1300"/>
            </a:pPr>
            <a:r>
              <a:t>• Gradient magnitude becomes threshold-invariant</a:t>
            </a:r>
          </a:p>
          <a:p>
            <a:pPr>
              <a:defRPr sz="1300"/>
            </a:pPr>
            <a:r>
              <a:t>• Inference: weight-rescaling restores binary spikes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89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t>Validation:  SOTA on CIFAR-10/100, ImageNet, DVS-CIFAR10  +  generalizes to Transformer SNNs and detection.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A · MP-Init  ▸  Empirical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The membrane potential drifts — even under TCS-aware normalization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2834640" cy="14008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374903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</a:defRPr>
            </a:pPr>
            <a:r>
              <a:t>(a) tdBN</a:t>
            </a:r>
          </a:p>
        </p:txBody>
      </p:sp>
      <p:pic>
        <p:nvPicPr>
          <p:cNvPr id="7" name="Picture 6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280160"/>
            <a:ext cx="2834640" cy="14008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83280" y="374903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</a:defRPr>
            </a:pPr>
            <a:r>
              <a:t>(b) TEBN</a:t>
            </a:r>
          </a:p>
        </p:txBody>
      </p:sp>
      <p:pic>
        <p:nvPicPr>
          <p:cNvPr id="9" name="Picture 8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280160"/>
            <a:ext cx="2834640" cy="1400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374903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</a:defRPr>
            </a:pPr>
            <a:r>
              <a:t>(c) TAB</a:t>
            </a:r>
          </a:p>
        </p:txBody>
      </p:sp>
      <p:pic>
        <p:nvPicPr>
          <p:cNvPr id="11" name="Picture 10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1280160"/>
            <a:ext cx="2834640" cy="1400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18320" y="374903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7D32"/>
                </a:solidFill>
              </a:defRPr>
            </a:pPr>
            <a:r>
              <a:t>(d) 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97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Membrane potential distributions across timesteps (ResNet-19, CIFAR-100)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37760"/>
            <a:ext cx="11247120" cy="137160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0392B"/>
                </a:solidFill>
              </a:defRPr>
            </a:pPr>
            <a:r>
              <a:t>Existing TCS-aware normalizations (TEBN, TAB) align activations</a:t>
            </a:r>
            <a:br/>
            <a:r>
              <a:t>but leave M[t] drifting.   MP-Init is the first to align M[t]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A · MP-Init  ▸  Markov-Chain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Why does M[t] always drift toward a single distribution?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Recurrence is a Markov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11430000" cy="640080"/>
          </a:xfrm>
          <a:prstGeom prst="roundRect">
            <a:avLst/>
          </a:prstGeom>
          <a:noFill/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4365C"/>
                </a:solidFill>
              </a:defRPr>
            </a:pPr>
            <a:r>
              <a:t>U[t+1]  =  f( U[t], I_in[t+1] )       —  i.i.d. inputs ⇒ Markov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Theorem (informal)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11430000" cy="128016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4365C"/>
                </a:solidFill>
              </a:defRPr>
            </a:pPr>
            <a:r>
              <a:t>Under (i.i.d. inputs) + (bounded U[t]), the chain satisfies</a:t>
            </a:r>
            <a:br/>
            <a:r>
              <a:t>Doeblin's minorization condition. Hence it has a unique stationary distribution π,</a:t>
            </a:r>
            <a:br/>
            <a:r>
              <a:t>and    ‖ Pⁿ(x, ·) − π(·) ‖_TV  ≤  C · (1 − ε)ⁿ      (geometric convergence)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6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0392B"/>
                </a:solidFill>
              </a:defRPr>
            </a:pPr>
            <a:r>
              <a:t>Implications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83480"/>
            <a:ext cx="11430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Initial state ≠ π  ⇒  TCS is mathematically inevitable</a:t>
            </a:r>
          </a:p>
          <a:p>
            <a:pPr>
              <a:defRPr sz="1400"/>
            </a:pPr>
            <a:r>
              <a:t>• Standard practice: U[0]=0 — but π(0) is generally far from zero</a:t>
            </a:r>
          </a:p>
          <a:p>
            <a:pPr>
              <a:defRPr sz="1400"/>
            </a:pPr>
            <a:r>
              <a:t>• →  Fix the initial state, not the normalization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A · MP-Init  ▸ 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A per-layer constant suffices — and the right constant is E[π]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Lemma: best constant is the mean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11430000" cy="64008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4365C"/>
                </a:solidFill>
              </a:defRPr>
            </a:pPr>
            <a:r>
              <a:t>argmin_c  E[ (π − c)² ]   =   E[π]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How to estimate E[π] without knowing 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6324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By the theorem, U[T] is the timestep closest to π</a:t>
            </a:r>
          </a:p>
          <a:p>
            <a:pPr>
              <a:defRPr sz="1400"/>
            </a:pPr>
            <a:r>
              <a:t>• Maintain a running mean μ ← β·μ + (1−β)·E[U[T]]   over training</a:t>
            </a:r>
          </a:p>
          <a:p>
            <a:pPr>
              <a:defRPr sz="1400"/>
            </a:pPr>
            <a:r>
              <a:t>• Use μ as the initial state at every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572000"/>
            <a:ext cx="11430000" cy="155448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E7D32"/>
                </a:solidFill>
              </a:defRPr>
            </a:pPr>
            <a:r>
              <a:t>Story:    U[0] = 0   ───drift───▸   π        becomes        U[0] = E[π]   ───stable───▸   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</a:defRPr>
            </a:pPr>
            <a:r>
              <a:t>Cost: one running-mean buffer per layer.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A · MP-Init  ▸ 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Six lines of pseudocode, training-only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MP-Init pseudocode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430000" cy="2377440"/>
          </a:xfrm>
          <a:prstGeom prst="rect">
            <a:avLst/>
          </a:prstGeom>
          <a:solidFill>
            <a:srgbClr val="F4F4F4"/>
          </a:solidFill>
          <a:ln w="1270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400">
                <a:solidFill>
                  <a:srgbClr val="14365C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400">
                <a:solidFill>
                  <a:srgbClr val="14365C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400">
                <a:solidFill>
                  <a:srgbClr val="14365C"/>
                </a:solidFill>
                <a:latin typeface="Consolas"/>
              </a:defRPr>
            </a:pPr>
            <a:r>
              <a:t>   U_l[0] ← μ_l                              ← apply at start</a:t>
            </a:r>
          </a:p>
          <a:p>
            <a:pPr>
              <a:defRPr sz="1400">
                <a:solidFill>
                  <a:srgbClr val="14365C"/>
                </a:solidFill>
                <a:latin typeface="Consolas"/>
              </a:defRPr>
            </a:pPr>
            <a:r>
              <a:t>   run T LIF steps as usual</a:t>
            </a:r>
          </a:p>
          <a:p>
            <a:pPr>
              <a:defRPr sz="1400">
                <a:solidFill>
                  <a:srgbClr val="14365C"/>
                </a:solidFill>
                <a:latin typeface="Consolas"/>
              </a:defRPr>
            </a:pPr>
            <a:r>
              <a:t>   batch_mean ← mean( U_l[T] of active neurons )</a:t>
            </a:r>
          </a:p>
          <a:p>
            <a:pPr>
              <a:defRPr sz="1400">
                <a:solidFill>
                  <a:srgbClr val="14365C"/>
                </a:solidFill>
                <a:latin typeface="Consolas"/>
              </a:defRPr>
            </a:pPr>
            <a:r>
              <a:t>   μ_l ← β · μ_l  +  (1 − β) · batch_mean    ← EMA, β = 0.9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480560"/>
            <a:ext cx="11430000" cy="1097280"/>
          </a:xfrm>
          <a:prstGeom prst="roundRect">
            <a:avLst/>
          </a:prstGeom>
          <a:solidFill>
            <a:srgbClr val="14365C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Inference:    μ_l is fixed  ⇒  standard LIF dynamics, no extra ops, full HW compatibility.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• O(L) extra parameters  (L = layers)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• No change to BN, no per-timestep parameters, no extra losses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A · MP-Init  ▸ 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Distribution alignment + geometric convergence + consistent gains</a:t>
            </a:r>
          </a:p>
        </p:txBody>
      </p:sp>
      <p:pic>
        <p:nvPicPr>
          <p:cNvPr id="5" name="Picture 4" descr="density_plot_membrane_potential_mp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3657600" cy="18075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297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555"/>
                </a:solidFill>
              </a:defRPr>
            </a:pPr>
            <a:r>
              <a:t>Aligned distributions</a:t>
            </a:r>
          </a:p>
        </p:txBody>
      </p:sp>
      <p:pic>
        <p:nvPicPr>
          <p:cNvPr id="7" name="Picture 6" descr="tv_dis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280160"/>
            <a:ext cx="3657600" cy="15228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06240" y="4297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555"/>
                </a:solidFill>
              </a:defRPr>
            </a:pPr>
            <a:r>
              <a:t>Geometric TV decay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2801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4365C"/>
                </a:solidFill>
              </a:defRPr>
            </a:pPr>
            <a:r>
              <a:t>Consistent gains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840480" cy="246888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4365C"/>
                </a:solidFill>
              </a:defRPr>
            </a:pPr>
            <a:r>
              <a:t>CIFAR-100 (T=4)</a:t>
            </a:r>
            <a:br/>
            <a:r>
              <a:t>  tdBN          75.55  →  76.09</a:t>
            </a:r>
            <a:br/>
            <a:r>
              <a:t>  TEBN          75.96  →  76.45</a:t>
            </a:r>
            <a:br/>
            <a:r>
              <a:t>  TAB           76.25  →  77.24</a:t>
            </a:r>
            <a:br/>
            <a:br/>
            <a:r>
              <a:t>DVS-CIFAR10 (T=10)</a:t>
            </a:r>
            <a:br/>
            <a:r>
              <a:t>  tdBN          76.60  →  77.37</a:t>
            </a:r>
            <a:br/>
            <a:r>
              <a:t>  TEBN          75.17  →  76.70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430000" cy="137160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E7D32"/>
                </a:solidFill>
              </a:defRPr>
            </a:pPr>
            <a:r>
              <a:t>MP-Init helps tdBN, TEBN, and TAB alike.</a:t>
            </a:r>
            <a:br/>
            <a:r>
              <a:t>Most pronounced at small T:  T=2  →  +1.66 %pt    (latency-critical regime)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B · TrSG  ▸  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AS-SG vs RS-SG — innocent-looking choice with consequences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640080"/>
          </a:xfrm>
          <a:prstGeom prst="roundRect">
            <a:avLst/>
          </a:prstGeom>
          <a:solidFill>
            <a:srgbClr val="14365C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AS-SG: Absolute-Scale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5486400" cy="91440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4365C"/>
                </a:solidFill>
              </a:defRPr>
            </a:pPr>
            <a:r>
              <a:t>x  =  M[t]  −  V_thr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Window width fixed at γ — independent of V_thr</a:t>
            </a:r>
          </a:p>
          <a:p>
            <a:pPr>
              <a:defRPr sz="1300"/>
            </a:pPr>
            <a:r>
              <a:t>• Magnitude independent of V_thr</a:t>
            </a:r>
          </a:p>
          <a:p>
            <a:pPr>
              <a:defRPr sz="1300"/>
            </a:pPr>
            <a:r>
              <a:t>• Used by tdBN, TET, PLIF, LTMD, 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5486400" cy="640080"/>
          </a:xfrm>
          <a:prstGeom prst="roundRect">
            <a:avLst/>
          </a:prstGeom>
          <a:solidFill>
            <a:srgbClr val="14365C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RS-SG: Relative-Scale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103120"/>
            <a:ext cx="5486400" cy="91440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4365C"/>
                </a:solidFill>
              </a:defRPr>
            </a:pPr>
            <a:r>
              <a:t>x  =  M[t] / V_thr  − 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20040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Window width scales with V_thr ✓</a:t>
            </a:r>
          </a:p>
          <a:p>
            <a:pPr>
              <a:defRPr sz="1300"/>
            </a:pPr>
            <a:r>
              <a:t>• But magnitude scales as 1 / V_thr ✗</a:t>
            </a:r>
          </a:p>
          <a:p>
            <a:pPr>
              <a:defRPr sz="1300"/>
            </a:pPr>
            <a:r>
              <a:t>• Used by Meng 2023, DIET-SNN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11155680" cy="128016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C0392B"/>
                </a:solidFill>
              </a:defRPr>
            </a:pPr>
            <a:r>
              <a:t>These two have been treated as essentially equivalent.</a:t>
            </a:r>
            <a:br/>
            <a:r>
              <a:t>But once V_thr is trainable, their failure modes diverge sharply.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B · TrSG  ▸  The Failure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Window width × gradient magnitude — both must scale correctly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80160"/>
            <a:ext cx="3915352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8521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</a:defRPr>
            </a:pPr>
            <a:r>
              <a:t>Each colored box = active gradient region.   Width = where gradient flows.   Height = gradient magnitude.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</a:defRPr>
            </a:pPr>
            <a:r>
              <a:t>AS-SG ⇒ flooding / starvation   ·   RS-SG ⇒ explosion / vanishing   ·   TrSG ⇒ both balanced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B · TrSG  ▸ 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A forward-path multiplication that exactly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Keep relative-scale window, multiply threshold on forward path: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1430000" cy="128016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4365C"/>
                </a:solidFill>
              </a:defRPr>
            </a:pPr>
            <a:r>
              <a:t>x  =  M[t] / V_thr  −  1                                    </a:t>
            </a:r>
            <a:br/>
            <a:r>
              <a:t>O[t]  =  V_thr  ·  S[t]                  ← only difference vs RS-SG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Chain rule: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749039"/>
            <a:ext cx="11430000" cy="109728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E7D32"/>
                </a:solidFill>
              </a:defRPr>
            </a:pPr>
            <a:r>
              <a:t>∂O / ∂M  =  V_thr  ·  ∂S / ∂M  ≈  V_thr  ·  (1/V_thr) f'(x)  =  f'(x)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120640"/>
            <a:ext cx="11430000" cy="128016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Window adapts with V_thr   ✓</a:t>
            </a:r>
            <a:br/>
            <a:r>
              <a:t>Magnitude is threshold-invariant  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B · TrSG  ▸  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The trick is training-only — neuromorphic HW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1430000" cy="82296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4365C"/>
                </a:solidFill>
              </a:defRPr>
            </a:pPr>
            <a:r>
              <a:t>Forward:    O[t]  =  V_thr · S[t]              (S ∈ {0,1}, output is real-valued)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65C"/>
                </a:solidFill>
              </a:defRPr>
            </a:pPr>
            <a:r>
              <a:t>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383280"/>
            <a:ext cx="11430000" cy="82296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4365C"/>
                </a:solidFill>
              </a:defRPr>
            </a:pPr>
            <a:r>
              <a:t>Absorb V_thr into the next layer:    W'_{l→l+1}  =  V_thr · W_{l→l+1}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297680"/>
            <a:ext cx="11430000" cy="82296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E7D32"/>
                </a:solidFill>
              </a:defRPr>
            </a:pPr>
            <a:r>
              <a:t>Forward at test time:    O[t]  =  S[t] ∈ {0,1}                   (standard LIF)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486400"/>
            <a:ext cx="11430000" cy="9144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Net effect: TrSG is purely a training-time optimization aid.</a:t>
            </a:r>
            <a:br/>
            <a:r>
              <a:t>Deployment uses identical operators as ordinary LIF SNNs.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B · TrSG  ▸  Stress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What happens at extreme thresholds during real training?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365C"/>
                </a:solidFill>
              </a:defRPr>
            </a:pPr>
            <a:r>
              <a:t>V_thr = 0.1  (low)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137160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14365C"/>
                </a:solidFill>
              </a:defRPr>
            </a:pPr>
            <a:r>
              <a:t>                    AbsStr      RatioAG    GradCV</a:t>
            </a:r>
            <a:br/>
            <a:r>
              <a:t>AS-SG (ep100)    0.0145    90.20%      1.22 </a:t>
            </a:r>
            <a:br/>
            <a:r>
              <a:t>RS-SG (ep100)         NaN       0%          NaN </a:t>
            </a:r>
            <a:br/>
            <a:r>
              <a:t>TrSG  (ep100)    0.0153    21.45%      0.87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365C"/>
                </a:solidFill>
              </a:defRPr>
            </a:pPr>
            <a:r>
              <a:t>V_thr = 2.0  (high)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486400" cy="137160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14365C"/>
                </a:solidFill>
              </a:defRPr>
            </a:pPr>
            <a:r>
              <a:t>                    AbsStr      RatioAG    GradCV</a:t>
            </a:r>
            <a:br/>
            <a:r>
              <a:t>AS-SG (ep100)    0.0000     0.00%       0.00 </a:t>
            </a:r>
            <a:br/>
            <a:r>
              <a:t>RS-SG (ep100)    0.0021     0.10%       2.25 </a:t>
            </a:r>
            <a:br/>
            <a:r>
              <a:t>TrSG  (ep100)    0.0323     6.90%       0.73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Real trainings actually visit these regions</a:t>
            </a:r>
          </a:p>
        </p:txBody>
      </p:sp>
      <p:pic>
        <p:nvPicPr>
          <p:cNvPr id="10" name="Picture 9" descr="threshold_training_cifar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20440"/>
            <a:ext cx="5486400" cy="2377440"/>
          </a:xfrm>
          <a:prstGeom prst="rect">
            <a:avLst/>
          </a:prstGeom>
        </p:spPr>
      </p:pic>
      <p:pic>
        <p:nvPicPr>
          <p:cNvPr id="11" name="Picture 10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520440"/>
            <a:ext cx="5486400" cy="2377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943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55"/>
                </a:solidFill>
              </a:defRPr>
            </a:pPr>
            <a:r>
              <a:t>CIFAR-100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943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55"/>
                </a:solidFill>
              </a:defRPr>
            </a:pPr>
            <a:r>
              <a:t>ImageNet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→ Threshold-robustness is a practical necessity, not a corner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C · Experiments  ▸  Main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State-of-the-art on every benchmark we evaluate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430000" cy="457200"/>
          </a:xfrm>
          <a:prstGeom prst="roundRect">
            <a:avLst/>
          </a:prstGeom>
          <a:noFill/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4365C"/>
                </a:solidFill>
              </a:defRPr>
            </a:pPr>
            <a:r>
              <a:t>Static and dynamic image datasets — standard LIF, no architectural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3657600" cy="640080"/>
          </a:xfrm>
          <a:prstGeom prst="roundRect">
            <a:avLst/>
          </a:prstGeom>
          <a:solidFill>
            <a:srgbClr val="14365C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CIFAR-100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</a:defRPr>
            </a:pPr>
            <a:r>
              <a:t>Previous best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555555"/>
                </a:solidFill>
              </a:defRPr>
            </a:pPr>
            <a:r>
              <a:t>76.82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94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4365C"/>
                </a:solidFill>
              </a:defRPr>
            </a:pPr>
            <a:r>
              <a:t>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60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4365C"/>
                </a:solidFill>
              </a:defRPr>
            </a:pPr>
            <a:r>
              <a:t>77.91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103120"/>
            <a:ext cx="3657600" cy="640080"/>
          </a:xfrm>
          <a:prstGeom prst="roundRect">
            <a:avLst/>
          </a:prstGeom>
          <a:solidFill>
            <a:srgbClr val="C0392B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ImageNet (SEW-R34)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8346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</a:defRPr>
            </a:pPr>
            <a:r>
              <a:t>Previous best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555555"/>
                </a:solidFill>
              </a:defRPr>
            </a:pPr>
            <a:r>
              <a:t>69.03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794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0392B"/>
                </a:solidFill>
              </a:defRPr>
            </a:pPr>
            <a:r>
              <a:t>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4160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C0392B"/>
                </a:solidFill>
              </a:defRPr>
            </a:pPr>
            <a:r>
              <a:t>69.67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3657600" cy="64008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DVS-CIFAR10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8346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</a:defRPr>
            </a:pPr>
            <a:r>
              <a:t>Previous best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555555"/>
                </a:solidFill>
              </a:defRPr>
            </a:pPr>
            <a:r>
              <a:t>76.20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794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E7D32"/>
                </a:solidFill>
              </a:defRPr>
            </a:pPr>
            <a:r>
              <a:t>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160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</a:defRPr>
            </a:pPr>
            <a:r>
              <a:t>81.43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</a:defRPr>
            </a:pPr>
            <a:r>
              <a:t>All entries: top-1 accuracy (%).   Baselines: TAB / MPS / RMP-Loss respectively.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11430000" cy="91440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E7D32"/>
                </a:solidFill>
              </a:defRPr>
            </a:pPr>
            <a:r>
              <a:t>DVS-CIFAR10 +5.23 %pt — biggest gain on the most challenging (event-based) dataset.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C · Experiments  ▸  Ablation &amp; 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Independent + complementary;  classification-only is not the full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365C"/>
                </a:solidFill>
              </a:defRPr>
            </a:pPr>
            <a:r>
              <a:t>Ablation (DVS-CIFAR10, T=10)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5486400" cy="228600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4365C"/>
                </a:solidFill>
              </a:defRPr>
            </a:pPr>
            <a:r>
              <a:t>MP-Init   TrSG       Acc (%)</a:t>
            </a:r>
            <a:br/>
            <a:r>
              <a:t>   ✗         ✗            76.60</a:t>
            </a:r>
            <a:br/>
            <a:r>
              <a:t>   ✓         ✗            77.37    +0.77</a:t>
            </a:r>
            <a:br/>
            <a:r>
              <a:t>   ✗         ✓            80.83    +4.23</a:t>
            </a:r>
            <a:br/>
            <a:r>
              <a:t>   ✓         ✓            81.43    +4.83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365C"/>
                </a:solidFill>
              </a:defRPr>
            </a:pPr>
            <a:r>
              <a:t>Beyond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91640"/>
            <a:ext cx="5486400" cy="100584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0392B"/>
                </a:solidFill>
              </a:defRPr>
            </a:pPr>
            <a:r>
              <a:t>Transformer SNN (QKFormer, ImageNet T=4)</a:t>
            </a:r>
            <a:br/>
            <a:r>
              <a:t>  baseline  78.80    →    + ours  79.90    (+1.10)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788920"/>
            <a:ext cx="5486400" cy="118872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0392B"/>
                </a:solidFill>
              </a:defRPr>
            </a:pPr>
            <a:r>
              <a:t>Object detection (COCO-2017, EMS-ResNet10 T=3)</a:t>
            </a:r>
            <a:br/>
            <a:r>
              <a:t>  mAP@0.5       0.291  →  0.305    (+0.014)</a:t>
            </a:r>
            <a:br/>
            <a:r>
              <a:t>  mAP@0.5:0.95  0.138  →  0.147    (+0.009)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06240"/>
            <a:ext cx="11430000" cy="822960"/>
          </a:xfrm>
          <a:prstGeom prst="roundRect">
            <a:avLst/>
          </a:prstGeom>
          <a:solidFill>
            <a:srgbClr val="F4F4F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E7D32"/>
                </a:solidFill>
              </a:defRPr>
            </a:pPr>
            <a:r>
              <a:t>MP-Init and TrSG are independently helpful, and together fully complementary.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430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Drop-in replacements: no architecture changes, no extra training pipeline,</a:t>
            </a:r>
            <a:br/>
            <a:r>
              <a:t>no new losses, no per-timestep parameters.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Part C · Experiments  ▸  Why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Mechanistic evidence beyond accuracy numbers</a:t>
            </a:r>
          </a:p>
        </p:txBody>
      </p:sp>
      <p:pic>
        <p:nvPicPr>
          <p:cNvPr id="5" name="Picture 4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27242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</a:defRPr>
            </a:pPr>
            <a:r>
              <a:t>Gradient cosine similarity across timesteps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Without MP-Init: gradients at t=1 fight later steps</a:t>
            </a:r>
          </a:p>
          <a:p>
            <a:pPr>
              <a:defRPr sz="1200"/>
            </a:pPr>
            <a:r>
              <a:t>• With MP-Init: temporal ensemble realigned</a:t>
            </a:r>
          </a:p>
          <a:p>
            <a:pPr>
              <a:defRPr sz="1200"/>
            </a:pPr>
            <a:r>
              <a:t>• Stable optimization — not just stable inference</a:t>
            </a:r>
          </a:p>
        </p:txBody>
      </p:sp>
      <p:pic>
        <p:nvPicPr>
          <p:cNvPr id="8" name="Picture 7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486400" cy="19223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</a:defRPr>
            </a:pPr>
            <a:r>
              <a:t>Accuracy vs firing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MP-Init dominates baseline at every firing rate</a:t>
            </a:r>
          </a:p>
          <a:p>
            <a:pPr>
              <a:defRPr sz="1200"/>
            </a:pPr>
            <a:r>
              <a:t>• Even at 0.06 firing rate, beats all baselines</a:t>
            </a:r>
          </a:p>
          <a:p>
            <a:pPr>
              <a:defRPr sz="1200"/>
            </a:pPr>
            <a:r>
              <a:t>• Gains are not from spiking more — from spiking better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E7D32"/>
                </a:solidFill>
              </a:defRPr>
            </a:pPr>
            <a:r>
              <a:t>→ Efficiency-preserving improvements, not accuracy-via-spend.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4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365C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Two diagnoses, two minimal fixes, broad gains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430000" cy="1280160"/>
          </a:xfrm>
          <a:prstGeom prst="roundRect">
            <a:avLst/>
          </a:prstGeom>
          <a:solidFill>
            <a:srgbClr val="14365C"/>
          </a:solidFill>
          <a:ln w="19050">
            <a:solidFill>
              <a:srgbClr val="143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TCS is a problem of the membrane potential — fixed at the initial state.</a:t>
            </a:r>
            <a:br/>
            <a:r>
              <a:t>Threshold-invariance is achieved by one forward-path multiplication.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4365C"/>
                </a:solidFill>
              </a:defRPr>
            </a:pPr>
            <a:r>
              <a:t>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MP-Init: align M[0] with stationary mean</a:t>
            </a:r>
          </a:p>
          <a:p>
            <a:pPr>
              <a:defRPr sz="1200"/>
            </a:pPr>
            <a:r>
              <a:t>• TrSG: cancel 1/V_thr factor exactly</a:t>
            </a:r>
          </a:p>
          <a:p>
            <a:pPr>
              <a:defRPr sz="1200"/>
            </a:pPr>
            <a:r>
              <a:t>• SOTA on 4 datasets</a:t>
            </a:r>
          </a:p>
          <a:p>
            <a:pPr>
              <a:defRPr sz="1200"/>
            </a:pPr>
            <a:r>
              <a:t>• Generalizes to Transformer SNN,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67722"/>
                </a:solidFill>
              </a:defRPr>
            </a:pPr>
            <a: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3200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67722"/>
                </a:solidFill>
              </a:defRPr>
            </a:pPr>
            <a:r>
              <a:t>• Per-layer constant — richer parametrization possible</a:t>
            </a:r>
          </a:p>
          <a:p>
            <a:pPr>
              <a:defRPr sz="1200">
                <a:solidFill>
                  <a:srgbClr val="E67722"/>
                </a:solidFill>
              </a:defRPr>
            </a:pPr>
            <a:r>
              <a:t>• Trainable LIF params may need quantization for fixed-param HW</a:t>
            </a:r>
          </a:p>
          <a:p>
            <a:pPr>
              <a:defRPr sz="1200">
                <a:solidFill>
                  <a:srgbClr val="E67722"/>
                </a:solidFill>
              </a:defRPr>
            </a:pPr>
            <a:r>
              <a:t>• i.i.d. assumption needs untrained-network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E7D32"/>
                </a:solidFill>
              </a:defRPr>
            </a:pPr>
            <a:r>
              <a:t>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3200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E7D32"/>
                </a:solidFill>
              </a:defRPr>
            </a:pPr>
            <a:r>
              <a:t>• Hardware-aware adaptation (Loihi, TrueNorth)</a:t>
            </a:r>
          </a:p>
          <a:p>
            <a:pPr>
              <a:defRPr sz="1200">
                <a:solidFill>
                  <a:srgbClr val="2E7D32"/>
                </a:solidFill>
              </a:defRPr>
            </a:pPr>
            <a:r>
              <a:t>• Beyond LIF: adaptive LIF, Izhikevich</a:t>
            </a:r>
          </a:p>
          <a:p>
            <a:pPr>
              <a:defRPr sz="1200">
                <a:solidFill>
                  <a:srgbClr val="2E7D32"/>
                </a:solidFill>
              </a:defRPr>
            </a:pPr>
            <a:r>
              <a:t>• Foundation-scale SNNs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4365C"/>
                </a:solidFill>
              </a:defRPr>
            </a:pPr>
            <a:r>
              <a:t>Thank you.   Questions?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